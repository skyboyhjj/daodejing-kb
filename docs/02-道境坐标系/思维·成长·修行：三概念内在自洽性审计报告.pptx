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00.svg" ContentType="image/svg+xml"/>
  <Override PartName="/ppt/media/image102.svg" ContentType="image/svg+xml"/>
  <Override PartName="/ppt/media/image105.svg" ContentType="image/svg+xml"/>
  <Override PartName="/ppt/media/image107.svg" ContentType="image/svg+xml"/>
  <Override PartName="/ppt/media/image111.svg" ContentType="image/svg+xml"/>
  <Override PartName="/ppt/media/image114.svg" ContentType="image/svg+xml"/>
  <Override PartName="/ppt/media/image116.svg" ContentType="image/svg+xml"/>
  <Override PartName="/ppt/media/image119.svg" ContentType="image/svg+xml"/>
  <Override PartName="/ppt/media/image12.svg" ContentType="image/svg+xml"/>
  <Override PartName="/ppt/media/image121.svg" ContentType="image/svg+xml"/>
  <Override PartName="/ppt/media/image123.svg" ContentType="image/svg+xml"/>
  <Override PartName="/ppt/media/image125.svg" ContentType="image/svg+xml"/>
  <Override PartName="/ppt/media/image127.svg" ContentType="image/svg+xml"/>
  <Override PartName="/ppt/media/image129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58.svg" ContentType="image/svg+xml"/>
  <Override PartName="/ppt/media/image6.svg" ContentType="image/svg+xml"/>
  <Override PartName="/ppt/media/image60.svg" ContentType="image/svg+xml"/>
  <Override PartName="/ppt/media/image62.svg" ContentType="image/svg+xml"/>
  <Override PartName="/ppt/media/image64.svg" ContentType="image/svg+xml"/>
  <Override PartName="/ppt/media/image66.svg" ContentType="image/svg+xml"/>
  <Override PartName="/ppt/media/image71.svg" ContentType="image/svg+xml"/>
  <Override PartName="/ppt/media/image74.svg" ContentType="image/svg+xml"/>
  <Override PartName="/ppt/media/image76.svg" ContentType="image/svg+xml"/>
  <Override PartName="/ppt/media/image78.svg" ContentType="image/svg+xml"/>
  <Override PartName="/ppt/media/image8.svg" ContentType="image/svg+xml"/>
  <Override PartName="/ppt/media/image81.svg" ContentType="image/svg+xml"/>
  <Override PartName="/ppt/media/image83.svg" ContentType="image/svg+xml"/>
  <Override PartName="/ppt/media/image86.svg" ContentType="image/svg+xml"/>
  <Override PartName="/ppt/media/image88.svg" ContentType="image/svg+xml"/>
  <Override PartName="/ppt/media/image90.svg" ContentType="image/svg+xml"/>
  <Override PartName="/ppt/media/image92.svg" ContentType="image/svg+xml"/>
  <Override PartName="/ppt/media/image94.svg" ContentType="image/svg+xml"/>
  <Override PartName="/ppt/media/image96.svg" ContentType="image/svg+xml"/>
  <Override PartName="/ppt/media/image9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L="0"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L="457200"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L="914400"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L="1371600"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L="1828800"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L="2286000"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L="2743200"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L="3200400"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L="3657600"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0" Type="http://schemas.openxmlformats.org/officeDocument/2006/relationships/slide" Target="slides/slide16.xml"/><Relationship Id="rId2" Type="http://schemas.openxmlformats.org/officeDocument/2006/relationships/theme" Target="theme/theme1.xml"/><Relationship Id="rId19" Type="http://schemas.openxmlformats.org/officeDocument/2006/relationships/slide" Target="slides/slide15.xml"/><Relationship Id="rId18" Type="http://schemas.openxmlformats.org/officeDocument/2006/relationships/slide" Target="slides/slide14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今天我将向大家汇报一份关于“思维、成长、修行”这三个核心概念的内在自洽性审计报告。这份报告是对我们之前提出的“个人成长与价值实现新范式”的一次深度补充和理论验证。我们将探讨这三个概念是否构成了一个内在自洽的整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本次汇报将分为五个部分。首先，我会介绍本次审计的背景和核心结论。接着，将分别阐述思维、成长、修行这三个概念的独立定义。之后，会分析它们之间的内在关系。第四部分将重点介绍“知常曰明”的七环链实践指南。最后，进行总结并展示附录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审计结论是：三者同源，内在自洽。思维、成长、修行，其实是同一个“觉性”的三个不同切面。思维是底层的运作引擎，成长是中层的生态展开，而修行则是顶层的导航校准。它们共享相同的动力机制，最终都指向“道法自然”的终极目标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将思维的运作过程，用《道德经》第十六章的经文，概括为四个阶段。从“致虚极，守静笃”的本体状态，到“万物并作，吾以观复”的觉察阶段，再到“归根曰静”的对立消融，最终达到“知常曰明”的自在妙用。这是一个不断深化的循环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成长的动力引擎，是我们之前详细介绍过的“五行流转”。它通过木·生、火·化、金·克、水·变、土·通这五个环节，驱动着技能生态的萌发、生长、修剪、更新和迁移，形成一个动态平衡的生命系统。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在时间的维度上，成长表现为一个六阶段的素养演化过程。从“志于学”的好奇，到“而立”的专注，再到“不惑”的坚定，直至最终“从心所欲”的自然合道。这描绘了一个完整的生命成长轨迹。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“修行”。修行的核心，是在一切变化中，找到那个不变的、能让我们站稳脚跟的能力。我们将其概括为“四季常青”的核心素养体系，包括根（自爱）、芽（自制）、叶（共情）、果（贡献）四个层面。这个体系的设计原则是向下兼容，确保即使在最低谷，我们也能守护好“自爱”这个根本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总结三者的内在关系，我们可以用一个层级结构来表示。底层是“思维”，它是觉性的运作机制，回答“火怎么烧”。中层是“成长”，它是觉性在时间中的显化，回答“火烧成了什么样子”。顶层是“修行”，它是觉性的自觉校准，回答“火往哪儿烧”。三者各司其职，协同运作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们进入第四部分，介绍一个非常重要的实践工具——“知常曰明”的七环链。它源自《道德经》第十六章，描述了从认识规律到实现长久不危的完整路径。这七个环节是一个螺旋上升的过程，关键在于不能跳环，必须一步步扎实地走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algn="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来看小禾如何走完七环链。她的“知常”是领悟到成长的节律。她的“容”是理解每个人的成长路径不同。她的“公”是实现了双向的价值交换。最终，她达到了“道乃久”的状态，不再焦虑，而是信任成长的自然过程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再来看小石的逆境突围。他经历了“妄作凶”的阶段，越努力越挫败。转折点在于妈妈做了减法，让他重新“知常”——认识到自己的独特价值。当他的火被看见、被接纳后，他开始“容”，并最终通过分享，实现了“公”，将自己的火种传递给他人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那么，如何在日常生活中活用七环链呢？我们可以通过每日自问，来诊断自己卡在了哪一环。我们也可以通过写“常道笔记”，来记录和发现自己的内在节律。当陷入“妄作凶”的困境时，记住急救三步：停、问、归，回到自己的常道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的终极启示是：成长不是“学会”什么，而是“回到”什么。常道不是从外面学来的，而是我们本自具足的，需要被重新发现和回归。无论是小禾回到时间的节律，还是小石回到恐龙世界里的自己，都是如此。请记住这个口诀，当你迷茫时，回到那个让你忘记时间的地方，那就是你的常道在说话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这一页是附录，列出了本次审计报告所参考的核心源文档及其主要贡献，供大家查阅。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我的汇报到此结束，感谢大家的聆听。现在是问答环节。最后，我想用一句话作为结尾：“火候到了，你自然会知道。在那之前，添柴便是。别忘了——火从来没灭过。” 谢谢大家。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3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6.svg"/><Relationship Id="rId4" Type="http://schemas.openxmlformats.org/officeDocument/2006/relationships/image" Target="../media/image5.png"/><Relationship Id="rId3" Type="http://schemas.openxmlformats.org/officeDocument/2006/relationships/image" Target="../media/image4.svg"/><Relationship Id="rId2" Type="http://schemas.openxmlformats.org/officeDocument/2006/relationships/image" Target="../media/image3.png"/><Relationship Id="rId1" Type="http://schemas.openxmlformats.org/officeDocument/2006/relationships/image" Target="../media/image2.jpe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4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2.svg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18.svg"/><Relationship Id="rId8" Type="http://schemas.openxmlformats.org/officeDocument/2006/relationships/image" Target="../media/image17.png"/><Relationship Id="rId7" Type="http://schemas.openxmlformats.org/officeDocument/2006/relationships/image" Target="../media/image16.svg"/><Relationship Id="rId6" Type="http://schemas.openxmlformats.org/officeDocument/2006/relationships/image" Target="../media/image15.png"/><Relationship Id="rId5" Type="http://schemas.openxmlformats.org/officeDocument/2006/relationships/image" Target="../media/image10.svg"/><Relationship Id="rId4" Type="http://schemas.openxmlformats.org/officeDocument/2006/relationships/image" Target="../media/image9.png"/><Relationship Id="rId3" Type="http://schemas.openxmlformats.org/officeDocument/2006/relationships/image" Target="../media/image14.svg"/><Relationship Id="rId2" Type="http://schemas.openxmlformats.org/officeDocument/2006/relationships/image" Target="../media/image13.png"/><Relationship Id="rId13" Type="http://schemas.openxmlformats.org/officeDocument/2006/relationships/notesSlide" Target="../notesSlides/notesSlide5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20.svg"/><Relationship Id="rId10" Type="http://schemas.openxmlformats.org/officeDocument/2006/relationships/image" Target="../media/image19.png"/><Relationship Id="rId1" Type="http://schemas.openxmlformats.org/officeDocument/2006/relationships/image" Target="../media/image2.jpe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26.svg"/><Relationship Id="rId8" Type="http://schemas.openxmlformats.org/officeDocument/2006/relationships/image" Target="../media/image25.png"/><Relationship Id="rId7" Type="http://schemas.openxmlformats.org/officeDocument/2006/relationships/image" Target="../media/image24.svg"/><Relationship Id="rId6" Type="http://schemas.openxmlformats.org/officeDocument/2006/relationships/image" Target="../media/image23.png"/><Relationship Id="rId5" Type="http://schemas.openxmlformats.org/officeDocument/2006/relationships/image" Target="../media/image22.svg"/><Relationship Id="rId4" Type="http://schemas.openxmlformats.org/officeDocument/2006/relationships/image" Target="../media/image21.png"/><Relationship Id="rId3" Type="http://schemas.openxmlformats.org/officeDocument/2006/relationships/image" Target="../media/image8.svg"/><Relationship Id="rId2" Type="http://schemas.openxmlformats.org/officeDocument/2006/relationships/image" Target="../media/image7.png"/><Relationship Id="rId13" Type="http://schemas.openxmlformats.org/officeDocument/2006/relationships/notesSlide" Target="../notesSlides/notesSlide6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16.svg"/><Relationship Id="rId10" Type="http://schemas.openxmlformats.org/officeDocument/2006/relationships/image" Target="../media/image15.png"/><Relationship Id="rId1" Type="http://schemas.openxmlformats.org/officeDocument/2006/relationships/image" Target="../media/image2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4.svg"/><Relationship Id="rId8" Type="http://schemas.openxmlformats.org/officeDocument/2006/relationships/image" Target="../media/image33.png"/><Relationship Id="rId7" Type="http://schemas.openxmlformats.org/officeDocument/2006/relationships/image" Target="../media/image32.svg"/><Relationship Id="rId6" Type="http://schemas.openxmlformats.org/officeDocument/2006/relationships/image" Target="../media/image31.png"/><Relationship Id="rId5" Type="http://schemas.openxmlformats.org/officeDocument/2006/relationships/image" Target="../media/image30.svg"/><Relationship Id="rId4" Type="http://schemas.openxmlformats.org/officeDocument/2006/relationships/image" Target="../media/image29.png"/><Relationship Id="rId3" Type="http://schemas.openxmlformats.org/officeDocument/2006/relationships/image" Target="../media/image28.svg"/><Relationship Id="rId2" Type="http://schemas.openxmlformats.org/officeDocument/2006/relationships/image" Target="../media/image27.png"/><Relationship Id="rId11" Type="http://schemas.openxmlformats.org/officeDocument/2006/relationships/notesSlide" Target="../notesSlides/notesSlide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image" Target="../media/image40.svg"/><Relationship Id="rId8" Type="http://schemas.openxmlformats.org/officeDocument/2006/relationships/image" Target="../media/image39.png"/><Relationship Id="rId7" Type="http://schemas.openxmlformats.org/officeDocument/2006/relationships/image" Target="../media/image38.svg"/><Relationship Id="rId6" Type="http://schemas.openxmlformats.org/officeDocument/2006/relationships/image" Target="../media/image37.png"/><Relationship Id="rId5" Type="http://schemas.openxmlformats.org/officeDocument/2006/relationships/image" Target="../media/image36.svg"/><Relationship Id="rId4" Type="http://schemas.openxmlformats.org/officeDocument/2006/relationships/image" Target="../media/image35.png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3" Type="http://schemas.openxmlformats.org/officeDocument/2006/relationships/notesSlide" Target="../notesSlides/notesSlide8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42.svg"/><Relationship Id="rId10" Type="http://schemas.openxmlformats.org/officeDocument/2006/relationships/image" Target="../media/image41.png"/><Relationship Id="rId1" Type="http://schemas.openxmlformats.org/officeDocument/2006/relationships/image" Target="../media/image2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image" Target="../media/image48.svg"/><Relationship Id="rId8" Type="http://schemas.openxmlformats.org/officeDocument/2006/relationships/image" Target="../media/image47.png"/><Relationship Id="rId7" Type="http://schemas.openxmlformats.org/officeDocument/2006/relationships/image" Target="../media/image46.svg"/><Relationship Id="rId6" Type="http://schemas.openxmlformats.org/officeDocument/2006/relationships/image" Target="../media/image45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Relationship Id="rId3" Type="http://schemas.openxmlformats.org/officeDocument/2006/relationships/image" Target="../media/image12.svg"/><Relationship Id="rId2" Type="http://schemas.openxmlformats.org/officeDocument/2006/relationships/image" Target="../media/image11.png"/><Relationship Id="rId15" Type="http://schemas.openxmlformats.org/officeDocument/2006/relationships/notesSlide" Target="../notesSlides/notesSlide9.xml"/><Relationship Id="rId14" Type="http://schemas.openxmlformats.org/officeDocument/2006/relationships/slideLayout" Target="../slideLayouts/slideLayout12.xml"/><Relationship Id="rId13" Type="http://schemas.openxmlformats.org/officeDocument/2006/relationships/image" Target="../media/image52.svg"/><Relationship Id="rId12" Type="http://schemas.openxmlformats.org/officeDocument/2006/relationships/image" Target="../media/image51.png"/><Relationship Id="rId11" Type="http://schemas.openxmlformats.org/officeDocument/2006/relationships/image" Target="../media/image50.svg"/><Relationship Id="rId10" Type="http://schemas.openxmlformats.org/officeDocument/2006/relationships/image" Target="../media/image49.png"/><Relationship Id="rId1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svg"/><Relationship Id="rId8" Type="http://schemas.openxmlformats.org/officeDocument/2006/relationships/image" Target="../media/image57.png"/><Relationship Id="rId7" Type="http://schemas.openxmlformats.org/officeDocument/2006/relationships/image" Target="../media/image56.svg"/><Relationship Id="rId6" Type="http://schemas.openxmlformats.org/officeDocument/2006/relationships/image" Target="../media/image55.png"/><Relationship Id="rId5" Type="http://schemas.openxmlformats.org/officeDocument/2006/relationships/image" Target="../media/image54.svg"/><Relationship Id="rId4" Type="http://schemas.openxmlformats.org/officeDocument/2006/relationships/image" Target="../media/image53.png"/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3" Type="http://schemas.openxmlformats.org/officeDocument/2006/relationships/notesSlide" Target="../notesSlides/notesSlide10.xml"/><Relationship Id="rId12" Type="http://schemas.openxmlformats.org/officeDocument/2006/relationships/slideLayout" Target="../slideLayouts/slideLayout12.xml"/><Relationship Id="rId11" Type="http://schemas.openxmlformats.org/officeDocument/2006/relationships/image" Target="../media/image60.svg"/><Relationship Id="rId10" Type="http://schemas.openxmlformats.org/officeDocument/2006/relationships/image" Target="../media/image59.png"/><Relationship Id="rId1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1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66.svg"/><Relationship Id="rId6" Type="http://schemas.openxmlformats.org/officeDocument/2006/relationships/image" Target="../media/image65.png"/><Relationship Id="rId5" Type="http://schemas.openxmlformats.org/officeDocument/2006/relationships/image" Target="../media/image64.svg"/><Relationship Id="rId4" Type="http://schemas.openxmlformats.org/officeDocument/2006/relationships/image" Target="../media/image63.png"/><Relationship Id="rId3" Type="http://schemas.openxmlformats.org/officeDocument/2006/relationships/image" Target="../media/image62.svg"/><Relationship Id="rId2" Type="http://schemas.openxmlformats.org/officeDocument/2006/relationships/image" Target="../media/image61.png"/><Relationship Id="rId1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3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0.svg"/><Relationship Id="rId6" Type="http://schemas.openxmlformats.org/officeDocument/2006/relationships/image" Target="../media/image69.png"/><Relationship Id="rId5" Type="http://schemas.openxmlformats.org/officeDocument/2006/relationships/image" Target="../media/image16.svg"/><Relationship Id="rId4" Type="http://schemas.openxmlformats.org/officeDocument/2006/relationships/image" Target="../media/image68.png"/><Relationship Id="rId3" Type="http://schemas.openxmlformats.org/officeDocument/2006/relationships/image" Target="../media/image8.svg"/><Relationship Id="rId2" Type="http://schemas.openxmlformats.org/officeDocument/2006/relationships/image" Target="../media/image67.png"/><Relationship Id="rId1" Type="http://schemas.openxmlformats.org/officeDocument/2006/relationships/image" Target="../media/image2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image" Target="../media/image76.svg"/><Relationship Id="rId8" Type="http://schemas.openxmlformats.org/officeDocument/2006/relationships/image" Target="../media/image75.png"/><Relationship Id="rId7" Type="http://schemas.openxmlformats.org/officeDocument/2006/relationships/image" Target="../media/image74.svg"/><Relationship Id="rId6" Type="http://schemas.openxmlformats.org/officeDocument/2006/relationships/image" Target="../media/image73.png"/><Relationship Id="rId5" Type="http://schemas.openxmlformats.org/officeDocument/2006/relationships/image" Target="../media/image40.svg"/><Relationship Id="rId4" Type="http://schemas.openxmlformats.org/officeDocument/2006/relationships/image" Target="../media/image72.png"/><Relationship Id="rId3" Type="http://schemas.openxmlformats.org/officeDocument/2006/relationships/image" Target="../media/image71.svg"/><Relationship Id="rId2" Type="http://schemas.openxmlformats.org/officeDocument/2006/relationships/image" Target="../media/image70.png"/><Relationship Id="rId19" Type="http://schemas.openxmlformats.org/officeDocument/2006/relationships/notesSlide" Target="../notesSlides/notesSlide14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83.svg"/><Relationship Id="rId16" Type="http://schemas.openxmlformats.org/officeDocument/2006/relationships/image" Target="../media/image82.png"/><Relationship Id="rId15" Type="http://schemas.openxmlformats.org/officeDocument/2006/relationships/image" Target="../media/image81.svg"/><Relationship Id="rId14" Type="http://schemas.openxmlformats.org/officeDocument/2006/relationships/image" Target="../media/image80.png"/><Relationship Id="rId13" Type="http://schemas.openxmlformats.org/officeDocument/2006/relationships/image" Target="../media/image30.svg"/><Relationship Id="rId12" Type="http://schemas.openxmlformats.org/officeDocument/2006/relationships/image" Target="../media/image79.png"/><Relationship Id="rId11" Type="http://schemas.openxmlformats.org/officeDocument/2006/relationships/image" Target="../media/image78.svg"/><Relationship Id="rId10" Type="http://schemas.openxmlformats.org/officeDocument/2006/relationships/image" Target="../media/image77.png"/><Relationship Id="rId1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image" Target="../media/image90.svg"/><Relationship Id="rId8" Type="http://schemas.openxmlformats.org/officeDocument/2006/relationships/image" Target="../media/image89.png"/><Relationship Id="rId7" Type="http://schemas.openxmlformats.org/officeDocument/2006/relationships/image" Target="../media/image88.svg"/><Relationship Id="rId6" Type="http://schemas.openxmlformats.org/officeDocument/2006/relationships/image" Target="../media/image87.png"/><Relationship Id="rId5" Type="http://schemas.openxmlformats.org/officeDocument/2006/relationships/image" Target="../media/image86.svg"/><Relationship Id="rId4" Type="http://schemas.openxmlformats.org/officeDocument/2006/relationships/image" Target="../media/image85.png"/><Relationship Id="rId3" Type="http://schemas.openxmlformats.org/officeDocument/2006/relationships/image" Target="../media/image36.svg"/><Relationship Id="rId21" Type="http://schemas.openxmlformats.org/officeDocument/2006/relationships/notesSlide" Target="../notesSlides/notesSlide15.xml"/><Relationship Id="rId20" Type="http://schemas.openxmlformats.org/officeDocument/2006/relationships/slideLayout" Target="../slideLayouts/slideLayout12.xml"/><Relationship Id="rId2" Type="http://schemas.openxmlformats.org/officeDocument/2006/relationships/image" Target="../media/image84.png"/><Relationship Id="rId19" Type="http://schemas.openxmlformats.org/officeDocument/2006/relationships/image" Target="../media/image100.svg"/><Relationship Id="rId18" Type="http://schemas.openxmlformats.org/officeDocument/2006/relationships/image" Target="../media/image99.png"/><Relationship Id="rId17" Type="http://schemas.openxmlformats.org/officeDocument/2006/relationships/image" Target="../media/image98.svg"/><Relationship Id="rId16" Type="http://schemas.openxmlformats.org/officeDocument/2006/relationships/image" Target="../media/image97.png"/><Relationship Id="rId15" Type="http://schemas.openxmlformats.org/officeDocument/2006/relationships/image" Target="../media/image96.svg"/><Relationship Id="rId14" Type="http://schemas.openxmlformats.org/officeDocument/2006/relationships/image" Target="../media/image95.png"/><Relationship Id="rId13" Type="http://schemas.openxmlformats.org/officeDocument/2006/relationships/image" Target="../media/image94.svg"/><Relationship Id="rId12" Type="http://schemas.openxmlformats.org/officeDocument/2006/relationships/image" Target="../media/image93.png"/><Relationship Id="rId11" Type="http://schemas.openxmlformats.org/officeDocument/2006/relationships/image" Target="../media/image92.svg"/><Relationship Id="rId10" Type="http://schemas.openxmlformats.org/officeDocument/2006/relationships/image" Target="../media/image91.png"/><Relationship Id="rId1" Type="http://schemas.openxmlformats.org/officeDocument/2006/relationships/image" Target="../media/image2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image" Target="../media/image58.svg"/><Relationship Id="rId8" Type="http://schemas.openxmlformats.org/officeDocument/2006/relationships/image" Target="../media/image103.png"/><Relationship Id="rId7" Type="http://schemas.openxmlformats.org/officeDocument/2006/relationships/image" Target="../media/image40.svg"/><Relationship Id="rId6" Type="http://schemas.openxmlformats.org/officeDocument/2006/relationships/image" Target="../media/image72.png"/><Relationship Id="rId5" Type="http://schemas.openxmlformats.org/officeDocument/2006/relationships/image" Target="../media/image102.svg"/><Relationship Id="rId4" Type="http://schemas.openxmlformats.org/officeDocument/2006/relationships/image" Target="../media/image101.png"/><Relationship Id="rId3" Type="http://schemas.openxmlformats.org/officeDocument/2006/relationships/image" Target="../media/image36.svg"/><Relationship Id="rId2" Type="http://schemas.openxmlformats.org/officeDocument/2006/relationships/image" Target="../media/image84.png"/><Relationship Id="rId19" Type="http://schemas.openxmlformats.org/officeDocument/2006/relationships/notesSlide" Target="../notesSlides/notesSlide16.xml"/><Relationship Id="rId18" Type="http://schemas.openxmlformats.org/officeDocument/2006/relationships/slideLayout" Target="../slideLayouts/slideLayout12.xml"/><Relationship Id="rId17" Type="http://schemas.openxmlformats.org/officeDocument/2006/relationships/image" Target="../media/image60.svg"/><Relationship Id="rId16" Type="http://schemas.openxmlformats.org/officeDocument/2006/relationships/image" Target="../media/image109.png"/><Relationship Id="rId15" Type="http://schemas.openxmlformats.org/officeDocument/2006/relationships/image" Target="../media/image20.svg"/><Relationship Id="rId14" Type="http://schemas.openxmlformats.org/officeDocument/2006/relationships/image" Target="../media/image108.png"/><Relationship Id="rId13" Type="http://schemas.openxmlformats.org/officeDocument/2006/relationships/image" Target="../media/image107.svg"/><Relationship Id="rId12" Type="http://schemas.openxmlformats.org/officeDocument/2006/relationships/image" Target="../media/image106.png"/><Relationship Id="rId11" Type="http://schemas.openxmlformats.org/officeDocument/2006/relationships/image" Target="../media/image105.svg"/><Relationship Id="rId10" Type="http://schemas.openxmlformats.org/officeDocument/2006/relationships/image" Target="../media/image104.png"/><Relationship Id="rId1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image" Target="../media/image36.svg"/><Relationship Id="rId8" Type="http://schemas.openxmlformats.org/officeDocument/2006/relationships/image" Target="../media/image84.png"/><Relationship Id="rId7" Type="http://schemas.openxmlformats.org/officeDocument/2006/relationships/image" Target="../media/image114.svg"/><Relationship Id="rId6" Type="http://schemas.openxmlformats.org/officeDocument/2006/relationships/image" Target="../media/image113.png"/><Relationship Id="rId5" Type="http://schemas.openxmlformats.org/officeDocument/2006/relationships/image" Target="../media/image34.svg"/><Relationship Id="rId4" Type="http://schemas.openxmlformats.org/officeDocument/2006/relationships/image" Target="../media/image112.png"/><Relationship Id="rId3" Type="http://schemas.openxmlformats.org/officeDocument/2006/relationships/image" Target="../media/image111.svg"/><Relationship Id="rId2" Type="http://schemas.openxmlformats.org/officeDocument/2006/relationships/image" Target="../media/image110.png"/><Relationship Id="rId11" Type="http://schemas.openxmlformats.org/officeDocument/2006/relationships/notesSlide" Target="../notesSlides/notesSlide17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image" Target="../media/image121.svg"/><Relationship Id="rId8" Type="http://schemas.openxmlformats.org/officeDocument/2006/relationships/image" Target="../media/image120.png"/><Relationship Id="rId7" Type="http://schemas.openxmlformats.org/officeDocument/2006/relationships/image" Target="../media/image119.svg"/><Relationship Id="rId6" Type="http://schemas.openxmlformats.org/officeDocument/2006/relationships/image" Target="../media/image118.png"/><Relationship Id="rId5" Type="http://schemas.openxmlformats.org/officeDocument/2006/relationships/image" Target="../media/image6.svg"/><Relationship Id="rId4" Type="http://schemas.openxmlformats.org/officeDocument/2006/relationships/image" Target="../media/image117.png"/><Relationship Id="rId3" Type="http://schemas.openxmlformats.org/officeDocument/2006/relationships/image" Target="../media/image116.svg"/><Relationship Id="rId2" Type="http://schemas.openxmlformats.org/officeDocument/2006/relationships/image" Target="../media/image115.png"/><Relationship Id="rId11" Type="http://schemas.openxmlformats.org/officeDocument/2006/relationships/notesSlide" Target="../notesSlides/notesSlide18.xml"/><Relationship Id="rId10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19.xml"/><Relationship Id="rId8" Type="http://schemas.openxmlformats.org/officeDocument/2006/relationships/slideLayout" Target="../slideLayouts/slideLayout12.xml"/><Relationship Id="rId7" Type="http://schemas.openxmlformats.org/officeDocument/2006/relationships/image" Target="../media/image127.svg"/><Relationship Id="rId6" Type="http://schemas.openxmlformats.org/officeDocument/2006/relationships/image" Target="../media/image126.png"/><Relationship Id="rId5" Type="http://schemas.openxmlformats.org/officeDocument/2006/relationships/image" Target="../media/image125.svg"/><Relationship Id="rId4" Type="http://schemas.openxmlformats.org/officeDocument/2006/relationships/image" Target="../media/image124.png"/><Relationship Id="rId3" Type="http://schemas.openxmlformats.org/officeDocument/2006/relationships/image" Target="../media/image123.svg"/><Relationship Id="rId2" Type="http://schemas.openxmlformats.org/officeDocument/2006/relationships/image" Target="../media/image122.png"/><Relationship Id="rId1" Type="http://schemas.openxmlformats.org/officeDocument/2006/relationships/image" Target="../media/image2.jpeg"/></Relationships>
</file>

<file path=ppt/slides/_rels/slide20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0.xml"/><Relationship Id="rId6" Type="http://schemas.openxmlformats.org/officeDocument/2006/relationships/slideLayout" Target="../slideLayouts/slideLayout12.xml"/><Relationship Id="rId5" Type="http://schemas.openxmlformats.org/officeDocument/2006/relationships/image" Target="../media/image129.svg"/><Relationship Id="rId4" Type="http://schemas.openxmlformats.org/officeDocument/2006/relationships/image" Target="../media/image128.png"/><Relationship Id="rId3" Type="http://schemas.openxmlformats.org/officeDocument/2006/relationships/image" Target="../media/image81.svg"/><Relationship Id="rId2" Type="http://schemas.openxmlformats.org/officeDocument/2006/relationships/image" Target="../media/image80.png"/><Relationship Id="rId1" Type="http://schemas.openxmlformats.org/officeDocument/2006/relationships/image" Target="../media/image2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2.xml"/><Relationship Id="rId1" Type="http://schemas.openxmlformats.org/officeDocument/2006/relationships/image" Target="../media/image2.jpeg"/></Relationships>
</file>

<file path=ppt/slides/_rels/slide22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22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131.png"/><Relationship Id="rId1" Type="http://schemas.openxmlformats.org/officeDocument/2006/relationships/image" Target="../media/image130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3C1E0A">
                  <a:alpha val="98000"/>
                </a:srgbClr>
              </a:gs>
              <a:gs pos="35000">
                <a:srgbClr val="C87533">
                  <a:alpha val="75000"/>
                </a:srgbClr>
              </a:gs>
              <a:gs pos="100000">
                <a:srgbClr val="000000">
                  <a:alpha val="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921000"/>
            <a:ext cx="1219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思维·成长·修行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8100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三概念内在自洽性审计报告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0" y="4445000"/>
            <a:ext cx="1219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《个人成长与价值实现的新范式》补充说明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0" y="5715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文档版本：V1.2   |   日期：2026年5月22日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381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目录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127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2286000" y="1905000"/>
            <a:ext cx="8890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6" name="AutoShape 6"/>
          <p:cNvSpPr/>
          <p:nvPr/>
        </p:nvSpPr>
        <p:spPr>
          <a:xfrm>
            <a:off x="2540000" y="2006600"/>
            <a:ext cx="838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审计背景与核心结论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为何审计？结论是什么？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2921000"/>
            <a:ext cx="127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286000" y="3048000"/>
            <a:ext cx="8890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540000" y="3149600"/>
            <a:ext cx="838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三概念独立定义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思维、成长、修行的核心内涵。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762000" y="4064000"/>
            <a:ext cx="127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286000" y="4191000"/>
            <a:ext cx="8890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2540000" y="4292600"/>
            <a:ext cx="838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三概念内在关系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从层级结构看三者如何协同。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207000"/>
            <a:ext cx="1270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60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2286000" y="5334000"/>
            <a:ext cx="8890000" cy="889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2540000" y="5435600"/>
            <a:ext cx="838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「知常曰明」的七环链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从理论到日常活用的实践指南。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审计背景：一个根本问题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875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核心问题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413000"/>
            <a:ext cx="10668000" cy="190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在构建“道境空间坐标系”、“四季常青核心素养体系”等框架时，三个核心概念反复出现：</a:t>
            </a:r>
            <a:r>
              <a:rPr lang="en-US" sz="1400" b="1" i="0" u="none" strike="noStrike">
                <a:solidFill>
                  <a:srgbClr val="C875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思维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1400" b="1" i="0" u="none" strike="noStrike">
                <a:solidFill>
                  <a:srgbClr val="C875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成长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en-US" sz="1400" b="1" i="0" u="none" strike="noStrike">
                <a:solidFill>
                  <a:srgbClr val="C875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修行</a:t>
            </a:r>
            <a:r>
              <a:rPr lang="en-US" sz="1400" b="0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。本次审计旨在回答一个根本问题：这三者是否构成了一个内在自洽的整体？还是在各自为政、互相矛盾？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4191000"/>
            <a:ext cx="254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875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审计依据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4699000"/>
            <a:ext cx="5207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4953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87500" y="4889500"/>
            <a:ext cx="431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核心文档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《什么是“思维”》、《个人成长与价值实现的新范式》等内部核心研究成果，为概念定义提供基准。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6223000" y="4699000"/>
            <a:ext cx="5207000" cy="1524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4953000"/>
            <a:ext cx="406400" cy="4064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048500" y="4889500"/>
            <a:ext cx="4318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哲学锚点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以《道德经》第十六章“致虚极，守静笃”及第八十一章“天之道，利而不害”为思想根基，校准体系的哲学一致性。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审计结论：三者同源，内在自洽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344295"/>
          </a:xfrm>
          <a:prstGeom prst="roundRect">
            <a:avLst>
              <a:gd name="adj" fmla="val 0"/>
            </a:avLst>
          </a:prstGeom>
          <a:solidFill>
            <a:srgbClr val="C87533">
              <a:alpha val="10000"/>
            </a:srgbClr>
          </a:solidFill>
          <a:ln w="12700" cap="flat" cmpd="sng">
            <a:solidFill>
              <a:srgbClr val="C8753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598295"/>
            <a:ext cx="10160000" cy="113792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思维、成长、修行并非三套独立的理论，而是</a:t>
            </a:r>
            <a:r>
              <a:rPr lang="en-US" sz="1400" b="1" i="0" u="none" strike="noStrike">
                <a:solidFill>
                  <a:srgbClr val="C875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同一个觉性的三个切面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。它们在术语上互不冲突，在动力机制上共享“生克化通变”的底层逻辑，在终极指向上共归“道法自然”的至高境界，构成了一个完整且自洽的认知闭环。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1016000" y="3016250"/>
            <a:ext cx="3810000" cy="3810000"/>
          </a:xfrm>
          <a:prstGeom prst="ellipse">
            <a:avLst/>
          </a:prstGeom>
          <a:solidFill>
            <a:srgbClr val="C87533">
              <a:alpha val="15000"/>
            </a:srgbClr>
          </a:solidFill>
          <a:ln w="12700" cap="flat" cmpd="sng">
            <a:solidFill>
              <a:srgbClr val="C8753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651000" y="3651250"/>
            <a:ext cx="2540000" cy="2540000"/>
          </a:xfrm>
          <a:prstGeom prst="ellipse">
            <a:avLst/>
          </a:prstGeom>
          <a:solidFill>
            <a:srgbClr val="C87533">
              <a:alpha val="30000"/>
            </a:srgbClr>
          </a:solidFill>
          <a:ln w="12700" cap="flat" cmpd="sng">
            <a:solidFill>
              <a:srgbClr val="C8753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8" name="AutoShape 8"/>
          <p:cNvSpPr/>
          <p:nvPr/>
        </p:nvSpPr>
        <p:spPr>
          <a:xfrm>
            <a:off x="2286000" y="4286250"/>
            <a:ext cx="1270000" cy="1270000"/>
          </a:xfrm>
          <a:prstGeom prst="ellipse">
            <a:avLst/>
          </a:prstGeom>
          <a:solidFill>
            <a:srgbClr val="C875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2286000" y="4667250"/>
            <a:ext cx="127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觉性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588000" y="3429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223000" y="3429000"/>
            <a:ext cx="558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875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思维：底层引擎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回答“觉性如何运作？”的问题。它是整个体系的逻辑起点与底层动力，通过概念、判断与推理，构建起认知世界的基础框架。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588000" y="4572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6223000" y="4572000"/>
            <a:ext cx="558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875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成长：中层生态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回答“觉性如何展开？”的问题。是思维在现实维度的投射与演化，通过实践中的反馈与迭代，形成动态平衡的生命成长生态。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588000" y="5715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223000" y="5715000"/>
            <a:ext cx="558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875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修行：顶层导航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回答“觉性如何校准？”的问题。是对思维与成长的终极纠偏，通过内观与觉察，确保生命始终朝向“道法自然”的终极方向行进。</a:t>
            </a:r>
            <a:endParaRPr lang="en-US" sz="13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思维：内在本具的觉性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1905000"/>
          </a:xfrm>
          <a:prstGeom prst="roundRect">
            <a:avLst>
              <a:gd name="adj" fmla="val 0"/>
            </a:avLst>
          </a:prstGeom>
          <a:solidFill>
            <a:srgbClr val="C87533">
              <a:alpha val="15000"/>
            </a:srgbClr>
          </a:solidFill>
          <a:ln w="12700" cap="flat" cmpd="sng">
            <a:solidFill>
              <a:srgbClr val="C8753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841500"/>
            <a:ext cx="1016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EBEBE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思维，是内在本具的觉性，遇内外诸缘而自然生起认知活动；经由反馈—调整的动态闭环，不断自我澄清、自我优化；最终在虚极静笃中，照见一切认知活动的根源本空，从而回归无为而不废妙用的自在状态。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937000"/>
            <a:ext cx="19812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98600" y="4191000"/>
            <a:ext cx="508000" cy="5080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762000" y="4889500"/>
            <a:ext cx="198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本体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889000" y="5334000"/>
            <a:ext cx="172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内在本具的觉性，是思维活动得以发生的根本依据与源头活水。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2933700" y="3937000"/>
            <a:ext cx="19812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670300" y="4191000"/>
            <a:ext cx="508000" cy="5080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2933700" y="4889500"/>
            <a:ext cx="198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生起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3060700" y="5334000"/>
            <a:ext cx="172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遇缘而生，非被动机械反应，而是基于觉性的主动认知响应。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5105400" y="3937000"/>
            <a:ext cx="19812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42000" y="41910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5105400" y="4889500"/>
            <a:ext cx="198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过程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5232400" y="5334000"/>
            <a:ext cx="172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通过反馈—调整的动态闭环，持续自我澄清、迭代与优化的演进。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277100" y="3937000"/>
            <a:ext cx="19812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9" name="Picture 19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013700" y="4191000"/>
            <a:ext cx="508000" cy="508000"/>
          </a:xfrm>
          <a:prstGeom prst="rect">
            <a:avLst/>
          </a:prstGeom>
        </p:spPr>
      </p:pic>
      <p:sp>
        <p:nvSpPr>
          <p:cNvPr id="20" name="AutoShape 20"/>
          <p:cNvSpPr/>
          <p:nvPr/>
        </p:nvSpPr>
        <p:spPr>
          <a:xfrm>
            <a:off x="7277100" y="4889500"/>
            <a:ext cx="198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深化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404100" y="5334000"/>
            <a:ext cx="172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从刻意的有为造作，逐步向无为而治的境界跨越与升华。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448800" y="3937000"/>
            <a:ext cx="19812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3" name="Picture 23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85400" y="4191000"/>
            <a:ext cx="508000" cy="508000"/>
          </a:xfrm>
          <a:prstGeom prst="rect">
            <a:avLst/>
          </a:prstGeom>
        </p:spPr>
      </p:pic>
      <p:sp>
        <p:nvSpPr>
          <p:cNvPr id="24" name="AutoShape 24"/>
          <p:cNvSpPr/>
          <p:nvPr/>
        </p:nvSpPr>
        <p:spPr>
          <a:xfrm>
            <a:off x="9448800" y="4889500"/>
            <a:ext cx="19812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究竟</a:t>
            </a:r>
            <a:endParaRPr lang="en-US" sz="1100"/>
          </a:p>
        </p:txBody>
      </p:sp>
      <p:sp>
        <p:nvSpPr>
          <p:cNvPr id="25" name="AutoShape 25"/>
          <p:cNvSpPr/>
          <p:nvPr/>
        </p:nvSpPr>
        <p:spPr>
          <a:xfrm>
            <a:off x="9575800" y="5334000"/>
            <a:ext cx="17272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200" b="0" i="0" u="none" strike="noStrike">
                <a:solidFill>
                  <a:srgbClr val="D1D5DB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虚极静笃，照见根源本空，复归生命本然，达致自在无碍。</a:t>
            </a:r>
            <a:endParaRPr lang="en-US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思维的四阶段模型 (以《道德经》第十六章为纲)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905000"/>
            <a:ext cx="2540000" cy="4064000"/>
          </a:xfrm>
          <a:prstGeom prst="roundRect">
            <a:avLst>
              <a:gd name="adj" fmla="val 0"/>
            </a:avLst>
          </a:prstGeom>
          <a:solidFill>
            <a:srgbClr val="141414">
              <a:alpha val="50000"/>
            </a:srgbClr>
          </a:solidFill>
          <a:ln w="12700" cap="flat" cmpd="sng">
            <a:solidFill>
              <a:srgbClr val="C875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8000" y="2159000"/>
            <a:ext cx="508000" cy="508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2794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 致虚极，守静笃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3302000"/>
            <a:ext cx="228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未被内容填充的、清醒的觉知，是思维的原点与地基。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放下所有预设与评判，不粘着于任何念头，让心处于空明状态。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340100" y="3810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683000" y="1905000"/>
            <a:ext cx="2540000" cy="4064000"/>
          </a:xfrm>
          <a:prstGeom prst="roundRect">
            <a:avLst>
              <a:gd name="adj" fmla="val 0"/>
            </a:avLst>
          </a:prstGeom>
          <a:solidFill>
            <a:srgbClr val="141414">
              <a:alpha val="50000"/>
            </a:srgbClr>
          </a:solidFill>
          <a:ln w="12700" cap="flat" cmpd="sng">
            <a:solidFill>
              <a:srgbClr val="C875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99000" y="2159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810000" y="2794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 万物并作，吾以观复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810000" y="3302000"/>
            <a:ext cx="228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如实观察念头的生灭起伏，不干预、不评判，如镜子般映照。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建立内观的反馈机制，清晰看到思维的运作模式与惯性。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261100" y="38100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6604000" y="1905000"/>
            <a:ext cx="2540000" cy="4064000"/>
          </a:xfrm>
          <a:prstGeom prst="roundRect">
            <a:avLst>
              <a:gd name="adj" fmla="val 0"/>
            </a:avLst>
          </a:prstGeom>
          <a:solidFill>
            <a:srgbClr val="141414">
              <a:alpha val="50000"/>
            </a:srgbClr>
          </a:solidFill>
          <a:ln w="12700" cap="flat" cmpd="sng">
            <a:solidFill>
              <a:srgbClr val="C875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620000" y="2159000"/>
            <a:ext cx="508000" cy="508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731000" y="2794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 归根曰静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731000" y="3302000"/>
            <a:ext cx="228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“我”与“我的想法”之间的对立消融，回归到意识的本源。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从追逐思维内容转向安住于思维本体，止息二元对立的内耗。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182100" y="3810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525000" y="1905000"/>
            <a:ext cx="2540000" cy="4064000"/>
          </a:xfrm>
          <a:prstGeom prst="roundRect">
            <a:avLst>
              <a:gd name="adj" fmla="val 0"/>
            </a:avLst>
          </a:prstGeom>
          <a:solidFill>
            <a:srgbClr val="141414">
              <a:alpha val="50000"/>
            </a:srgbClr>
          </a:solidFill>
          <a:ln w="12700" cap="flat" cmpd="sng">
            <a:solidFill>
              <a:srgbClr val="C875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541000" y="21590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9652000" y="2794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 复命曰常，知常曰明</a:t>
            </a:r>
            <a:endParaRPr lang="en-US" sz="1100"/>
          </a:p>
        </p:txBody>
      </p:sp>
      <p:sp>
        <p:nvSpPr>
          <p:cNvPr id="22" name="AutoShape 22"/>
          <p:cNvSpPr/>
          <p:nvPr/>
        </p:nvSpPr>
        <p:spPr>
          <a:xfrm>
            <a:off x="9652000" y="3302000"/>
            <a:ext cx="2286000" cy="228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任运思维，不执不拒，达到思维与存在的合一，洞见规律。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300" b="1" i="0" u="none" strike="noStrike">
                <a:solidFill>
                  <a:srgbClr val="E5E7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操作：</a:t>
            </a: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实现反馈与调整的自动化，在变化中保持清明与从容。</a:t>
            </a:r>
            <a:endParaRPr lang="en-US" sz="1300" b="0" i="0" u="none" strike="noStrike">
              <a:solidFill>
                <a:srgbClr val="D1D5DB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62000" y="6159500"/>
            <a:ext cx="11303000" cy="381000"/>
          </a:xfrm>
          <a:prstGeom prst="roundRect">
            <a:avLst>
              <a:gd name="adj" fmla="val 0"/>
            </a:avLst>
          </a:prstGeom>
          <a:solidFill>
            <a:srgbClr val="C87533">
              <a:alpha val="1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4" name="AutoShape 24"/>
          <p:cNvSpPr/>
          <p:nvPr/>
        </p:nvSpPr>
        <p:spPr>
          <a:xfrm>
            <a:off x="762000" y="6159500"/>
            <a:ext cx="1130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循环往复 · 层层递进 · 回归本源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889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成长：从线性积累到生态演化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080000" cy="4572000"/>
          </a:xfrm>
          <a:prstGeom prst="roundRect">
            <a:avLst>
              <a:gd name="adj" fmla="val 0"/>
            </a:avLst>
          </a:prstGeom>
          <a:solidFill>
            <a:srgbClr val="141414">
              <a:alpha val="40000"/>
            </a:srgbClr>
          </a:solidFill>
          <a:ln w="12700" cap="flat" cmpd="sng">
            <a:solidFill>
              <a:srgbClr val="C875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875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传统视角 vs. 新范式视角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6670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87500" y="2667000"/>
            <a:ext cx="406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传统视角：线性的量化积累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将成长视为单一维度的攀爬，如点亮技能树、获取证书或晋升头衔。这种视角强调可量化的增量，但往往忽视了系统的复杂性与个体的独特性。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4318000"/>
            <a:ext cx="406400" cy="4064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587500" y="4318000"/>
            <a:ext cx="406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新范式：有机的生态演化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成长是一个动态、自组织的生态过程。在与环境的持续互动中，不断进行反馈、迭代与重塑。它不是简单的加法，而是系统的跃迁与生命力的延展。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350000" y="1651000"/>
            <a:ext cx="5080000" cy="4572000"/>
          </a:xfrm>
          <a:prstGeom prst="roundRect">
            <a:avLst>
              <a:gd name="adj" fmla="val 0"/>
            </a:avLst>
          </a:prstGeom>
          <a:solidFill>
            <a:srgbClr val="141414">
              <a:alpha val="40000"/>
            </a:srgbClr>
          </a:solidFill>
          <a:ln w="12700" cap="flat" cmpd="sng">
            <a:solidFill>
              <a:srgbClr val="C875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604000" y="1905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875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两大核心地图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604000" y="26670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175500" y="2667000"/>
            <a:ext cx="406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个人地图：私有技能生态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这是属于你自己的动态生命系统。它不仅包含显性的能力，更包含隐性的直觉、价值观与成长节奏。它是对内的探索，是自我认知的疆域。</a:t>
            </a:r>
            <a:endParaRPr lang="en-US" sz="1100"/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604000" y="4318000"/>
            <a:ext cx="406400" cy="4064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175500" y="4318000"/>
            <a:ext cx="406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安人地图：公共素养参照系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D1D5D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源自儒家“修己以安人”的智慧。这是对外的连接，是在社会与组织中建立的公共价值坐标系。它回答了“我如何与他人共生”的命题，是生态演化的外部锚点。</a:t>
            </a:r>
            <a:endParaRPr lang="en-US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成长的动力引擎：五行流转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2032000" cy="3556000"/>
          </a:xfrm>
          <a:prstGeom prst="roundRect">
            <a:avLst>
              <a:gd name="adj" fmla="val 0"/>
            </a:avLst>
          </a:prstGeom>
          <a:solidFill>
            <a:srgbClr val="141414">
              <a:alpha val="50000"/>
            </a:srgbClr>
          </a:solidFill>
          <a:ln w="12700" cap="flat" cmpd="sng">
            <a:solidFill>
              <a:srgbClr val="C8753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73200" y="24130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3175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木·生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889000" y="3810000"/>
            <a:ext cx="177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种子</a:t>
            </a:r>
            <a:endParaRPr lang="en-US" sz="1100"/>
          </a:p>
          <a:p>
            <a:pPr indent="0" algn="ctr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新技能的萌芽，如同种子破土，是成长的起点与根基。</a:t>
            </a:r>
            <a:endParaRPr lang="en-US" sz="1200" b="0" i="0" u="none" strike="noStrike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3048000" y="2032000"/>
            <a:ext cx="2032000" cy="3556000"/>
          </a:xfrm>
          <a:prstGeom prst="roundRect">
            <a:avLst>
              <a:gd name="adj" fmla="val 0"/>
            </a:avLst>
          </a:prstGeom>
          <a:solidFill>
            <a:srgbClr val="141414">
              <a:alpha val="50000"/>
            </a:srgbClr>
          </a:solidFill>
          <a:ln w="12700" cap="flat" cmpd="sng">
            <a:solidFill>
              <a:srgbClr val="C8753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759200" y="2413000"/>
            <a:ext cx="609600" cy="6096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3175000" y="3175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火·化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3175000" y="3810000"/>
            <a:ext cx="177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繁茂</a:t>
            </a:r>
            <a:endParaRPr lang="en-US" sz="1100"/>
          </a:p>
          <a:p>
            <a:pPr indent="0" algn="ctr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技能的深化与应用，如火焰般热烈，推动能力边界的扩张。</a:t>
            </a:r>
            <a:endParaRPr lang="en-US" sz="1200" b="0" i="0" u="none" strike="noStrike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5334000" y="2032000"/>
            <a:ext cx="2032000" cy="3556000"/>
          </a:xfrm>
          <a:prstGeom prst="roundRect">
            <a:avLst>
              <a:gd name="adj" fmla="val 0"/>
            </a:avLst>
          </a:prstGeom>
          <a:solidFill>
            <a:srgbClr val="141414">
              <a:alpha val="50000"/>
            </a:srgbClr>
          </a:solidFill>
          <a:ln w="12700" cap="flat" cmpd="sng">
            <a:solidFill>
              <a:srgbClr val="C8753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045200" y="2413000"/>
            <a:ext cx="609600" cy="6096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5461000" y="3175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金·克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5461000" y="3810000"/>
            <a:ext cx="177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修剪</a:t>
            </a:r>
            <a:endParaRPr lang="en-US" sz="1100"/>
          </a:p>
          <a:p>
            <a:pPr indent="0" algn="ctr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淘汰过时技能，设定边界，如利刃般剔除冗余，保持系统高效。</a:t>
            </a:r>
            <a:endParaRPr lang="en-US" sz="1200" b="0" i="0" u="none" strike="noStrike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6" name="AutoShape 16"/>
          <p:cNvSpPr/>
          <p:nvPr/>
        </p:nvSpPr>
        <p:spPr>
          <a:xfrm>
            <a:off x="7620000" y="2032000"/>
            <a:ext cx="2032000" cy="3556000"/>
          </a:xfrm>
          <a:prstGeom prst="roundRect">
            <a:avLst>
              <a:gd name="adj" fmla="val 0"/>
            </a:avLst>
          </a:prstGeom>
          <a:solidFill>
            <a:srgbClr val="141414">
              <a:alpha val="50000"/>
            </a:srgbClr>
          </a:solidFill>
          <a:ln w="12700" cap="flat" cmpd="sng">
            <a:solidFill>
              <a:srgbClr val="C8753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31200" y="2413000"/>
            <a:ext cx="609600" cy="6096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747000" y="3175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水·变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747000" y="3810000"/>
            <a:ext cx="177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更新</a:t>
            </a:r>
            <a:endParaRPr lang="en-US" sz="1100"/>
          </a:p>
          <a:p>
            <a:pPr indent="0" algn="ctr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技能的迭代与升级，如水般灵动，适应环境变化，实现自我革新。</a:t>
            </a:r>
            <a:endParaRPr lang="en-US" sz="1200" b="0" i="0" u="none" strike="noStrike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9906000" y="2032000"/>
            <a:ext cx="2032000" cy="3556000"/>
          </a:xfrm>
          <a:prstGeom prst="roundRect">
            <a:avLst>
              <a:gd name="adj" fmla="val 0"/>
            </a:avLst>
          </a:prstGeom>
          <a:solidFill>
            <a:srgbClr val="141414">
              <a:alpha val="50000"/>
            </a:srgbClr>
          </a:solidFill>
          <a:ln w="12700" cap="flat" cmpd="sng">
            <a:solidFill>
              <a:srgbClr val="C8753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617200" y="2413000"/>
            <a:ext cx="609600" cy="6096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10033000" y="3175000"/>
            <a:ext cx="177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4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土·通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10033000" y="3810000"/>
            <a:ext cx="1778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迁移</a:t>
            </a:r>
            <a:endParaRPr lang="en-US" sz="1100"/>
          </a:p>
          <a:p>
            <a:pPr indent="0" algn="ctr">
              <a:lnSpc>
                <a:spcPct val="117000"/>
              </a:lnSpc>
            </a:pPr>
            <a:r>
              <a:rPr lang="en-US" sz="1200" b="0" i="0" u="none" strike="noStrike">
                <a:solidFill>
                  <a:srgbClr val="E5E7EB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技能的迁移与融合，如大地般包容，将经验转化为通用能力。</a:t>
            </a:r>
            <a:endParaRPr lang="en-US" sz="1200" b="0" i="0" u="none" strike="noStrike">
              <a:solidFill>
                <a:srgbClr val="E5E7EB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成长的六阶段素养演化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4445000"/>
            <a:ext cx="1651000" cy="1778000"/>
          </a:xfrm>
          <a:prstGeom prst="roundRect">
            <a:avLst>
              <a:gd name="adj" fmla="val 0"/>
            </a:avLst>
          </a:prstGeom>
          <a:solidFill>
            <a:srgbClr val="C87533">
              <a:alpha val="20000"/>
            </a:srgbClr>
          </a:solidFill>
          <a:ln w="12700" cap="flat" cmpd="sng">
            <a:solidFill>
              <a:srgbClr val="C8753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84300" y="4699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762000" y="5207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志于学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762000" y="56515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寻找方向</a:t>
            </a:r>
            <a:b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(好奇与真诚)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2667000" y="3810000"/>
            <a:ext cx="1651000" cy="1778000"/>
          </a:xfrm>
          <a:prstGeom prst="roundRect">
            <a:avLst>
              <a:gd name="adj" fmla="val 0"/>
            </a:avLst>
          </a:prstGeom>
          <a:solidFill>
            <a:srgbClr val="C87533">
              <a:alpha val="35000"/>
            </a:srgbClr>
          </a:solidFill>
          <a:ln w="12700" cap="flat" cmpd="sng">
            <a:solidFill>
              <a:srgbClr val="C8753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3289300" y="4064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2667000" y="4572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而立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2667000" y="50165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站稳脚跟</a:t>
            </a:r>
            <a:b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(专注与边界)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572000" y="3175000"/>
            <a:ext cx="1651000" cy="1778000"/>
          </a:xfrm>
          <a:prstGeom prst="roundRect">
            <a:avLst>
              <a:gd name="adj" fmla="val 0"/>
            </a:avLst>
          </a:prstGeom>
          <a:solidFill>
            <a:srgbClr val="C87533">
              <a:alpha val="50000"/>
            </a:srgbClr>
          </a:solidFill>
          <a:ln w="12700" cap="flat" cmpd="sng">
            <a:solidFill>
              <a:srgbClr val="C8753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194300" y="34290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4572000" y="3937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不惑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4572000" y="43815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坚定内心</a:t>
            </a:r>
            <a:b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(共情与谦逊)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477000" y="2540000"/>
            <a:ext cx="1651000" cy="1778000"/>
          </a:xfrm>
          <a:prstGeom prst="roundRect">
            <a:avLst>
              <a:gd name="adj" fmla="val 0"/>
            </a:avLst>
          </a:prstGeom>
          <a:solidFill>
            <a:srgbClr val="C87533">
              <a:alpha val="65000"/>
            </a:srgbClr>
          </a:solidFill>
          <a:ln w="12700" cap="flat" cmpd="sng">
            <a:solidFill>
              <a:srgbClr val="C8753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099300" y="27940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6477000" y="3302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知天命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477000" y="37465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理解规律</a:t>
            </a:r>
            <a:b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(担当与传承)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8382000" y="1905000"/>
            <a:ext cx="1651000" cy="1778000"/>
          </a:xfrm>
          <a:prstGeom prst="roundRect">
            <a:avLst>
              <a:gd name="adj" fmla="val 0"/>
            </a:avLst>
          </a:prstGeom>
          <a:solidFill>
            <a:srgbClr val="C87533">
              <a:alpha val="80000"/>
            </a:srgbClr>
          </a:solidFill>
          <a:ln w="12700" cap="flat" cmpd="sng">
            <a:solidFill>
              <a:srgbClr val="C8753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9004300" y="21590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382000" y="2667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耳顺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8382000" y="31115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接纳一切</a:t>
            </a:r>
            <a:b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(接纳与流转)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10287000" y="1270000"/>
            <a:ext cx="1651000" cy="1778000"/>
          </a:xfrm>
          <a:prstGeom prst="roundRect">
            <a:avLst>
              <a:gd name="adj" fmla="val 0"/>
            </a:avLst>
          </a:prstGeom>
          <a:solidFill>
            <a:srgbClr val="C87533">
              <a:alpha val="100000"/>
            </a:srgbClr>
          </a:solidFill>
          <a:ln w="12700" cap="flat" cmpd="sng">
            <a:solidFill>
              <a:srgbClr val="C8753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909300" y="1524000"/>
            <a:ext cx="406400" cy="4064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0287000" y="2032000"/>
            <a:ext cx="1651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从心所欲</a:t>
            </a:r>
            <a:endParaRPr lang="en-US" sz="1100"/>
          </a:p>
        </p:txBody>
      </p:sp>
      <p:sp>
        <p:nvSpPr>
          <p:cNvPr id="27" name="AutoShape 27"/>
          <p:cNvSpPr/>
          <p:nvPr/>
        </p:nvSpPr>
        <p:spPr>
          <a:xfrm>
            <a:off x="10287000" y="2476500"/>
            <a:ext cx="1651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00000"/>
              </a:lnSpc>
              <a:defRPr/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自然合道</a:t>
            </a:r>
            <a:b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(自然合乎道)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修行：在变化中站稳脚跟的能力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FFFFFF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核心命题：在每一次呼吸的间隙，依赖什么“不变化”的能力站稳脚跟？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2540000" cy="2921000"/>
          </a:xfrm>
          <a:prstGeom prst="roundRect">
            <a:avLst>
              <a:gd name="adj" fmla="val 0"/>
            </a:avLst>
          </a:prstGeom>
          <a:solidFill>
            <a:srgbClr val="141414">
              <a:alpha val="50000"/>
            </a:srgbClr>
          </a:solidFill>
          <a:ln w="12700" cap="flat" cmpd="sng">
            <a:solidFill>
              <a:srgbClr val="C8753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78000" y="2794000"/>
            <a:ext cx="508000" cy="508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889000" y="3429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根 (自爱)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952500" y="3937000"/>
            <a:ext cx="215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自我觉察内心的真实感受，全然接纳情绪的流动，敏锐感知身体发出的信号。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3467100" y="2540000"/>
            <a:ext cx="2540000" cy="2921000"/>
          </a:xfrm>
          <a:prstGeom prst="roundRect">
            <a:avLst>
              <a:gd name="adj" fmla="val 0"/>
            </a:avLst>
          </a:prstGeom>
          <a:solidFill>
            <a:srgbClr val="141414">
              <a:alpha val="50000"/>
            </a:srgbClr>
          </a:solidFill>
          <a:ln w="12700" cap="flat" cmpd="sng">
            <a:solidFill>
              <a:srgbClr val="C8753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483100" y="2794000"/>
            <a:ext cx="508000" cy="508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3594100" y="3429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芽 (自制)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3657600" y="3937000"/>
            <a:ext cx="215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在冲动来临时按下暂停键，有效管理本能反应，为自己和他人设定清晰的边界。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6172200" y="2540000"/>
            <a:ext cx="2540000" cy="2921000"/>
          </a:xfrm>
          <a:prstGeom prst="roundRect">
            <a:avLst>
              <a:gd name="adj" fmla="val 0"/>
            </a:avLst>
          </a:prstGeom>
          <a:solidFill>
            <a:srgbClr val="141414">
              <a:alpha val="50000"/>
            </a:srgbClr>
          </a:solidFill>
          <a:ln w="12700" cap="flat" cmpd="sng">
            <a:solidFill>
              <a:srgbClr val="C8753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188200" y="2794000"/>
            <a:ext cx="508000" cy="508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6299200" y="3429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叶 (共情)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362700" y="3937000"/>
            <a:ext cx="215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放下评判倾听他人的心声，尝试换位思考理解立场，用温暖的语言表达善意。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890000" y="2540000"/>
            <a:ext cx="2540000" cy="2921000"/>
          </a:xfrm>
          <a:prstGeom prst="roundRect">
            <a:avLst>
              <a:gd name="adj" fmla="val 0"/>
            </a:avLst>
          </a:prstGeom>
          <a:solidFill>
            <a:srgbClr val="141414">
              <a:alpha val="50000"/>
            </a:srgbClr>
          </a:solidFill>
          <a:ln w="12700" cap="flat" cmpd="sng">
            <a:solidFill>
              <a:srgbClr val="C8753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06000" y="2794000"/>
            <a:ext cx="508000" cy="508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9017000" y="3429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果 (贡献)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9080500" y="3937000"/>
            <a:ext cx="2159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主动伸出援手帮助他人，勇于承担应尽的责任，将生命的智慧与经验传承下去。</a:t>
            </a:r>
            <a:endParaRPr lang="en-US" sz="1100"/>
          </a:p>
        </p:txBody>
      </p:sp>
      <p:sp>
        <p:nvSpPr>
          <p:cNvPr id="21" name="AutoShape 21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C87533">
              <a:alpha val="15000"/>
            </a:srgbClr>
          </a:solidFill>
          <a:ln w="12700" cap="flat" cmpd="sng">
            <a:solidFill>
              <a:srgbClr val="C8753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016000" y="59436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460500" y="5842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设计原则：</a:t>
            </a: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向下兼容的底线守护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。即使在最低能量状态下，用户仍能调用“根（自爱）”来照顾自己。</a:t>
            </a:r>
            <a:endParaRPr lang="en-US" sz="110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同一个觉性的三个切面：层级结构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2540000" y="1778000"/>
            <a:ext cx="7112000" cy="1397000"/>
          </a:xfrm>
          <a:prstGeom prst="roundRect">
            <a:avLst>
              <a:gd name="adj" fmla="val 0"/>
            </a:avLst>
          </a:prstGeom>
          <a:solidFill>
            <a:srgbClr val="C87533">
              <a:alpha val="9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921000" y="21717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3810000" y="1905000"/>
            <a:ext cx="571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顶层：修行 (顶层导航)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角色：</a:t>
            </a: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觉性的自觉校准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回答：</a:t>
            </a: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火往哪儿烧？偏了没有？</a:t>
            </a:r>
            <a:endParaRPr lang="en-US" sz="13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7" name="AutoShape 7"/>
          <p:cNvSpPr/>
          <p:nvPr/>
        </p:nvSpPr>
        <p:spPr>
          <a:xfrm>
            <a:off x="1905000" y="3429000"/>
            <a:ext cx="8382000" cy="1397000"/>
          </a:xfrm>
          <a:prstGeom prst="roundRect">
            <a:avLst>
              <a:gd name="adj" fmla="val 0"/>
            </a:avLst>
          </a:prstGeom>
          <a:solidFill>
            <a:srgbClr val="C87533">
              <a:alpha val="6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2286000" y="3822700"/>
            <a:ext cx="609600" cy="6096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3175000" y="3556000"/>
            <a:ext cx="698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中层：成长 (中层生态)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角色：</a:t>
            </a: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觉性在时间中的显化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回答：</a:t>
            </a: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火烧了多久？烧成了什么样子？</a:t>
            </a:r>
            <a:endParaRPr lang="en-US" sz="13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0" name="AutoShape 10"/>
          <p:cNvSpPr/>
          <p:nvPr/>
        </p:nvSpPr>
        <p:spPr>
          <a:xfrm>
            <a:off x="1270000" y="5080000"/>
            <a:ext cx="9652000" cy="1397000"/>
          </a:xfrm>
          <a:prstGeom prst="roundRect">
            <a:avLst>
              <a:gd name="adj" fmla="val 0"/>
            </a:avLst>
          </a:prstGeom>
          <a:solidFill>
            <a:srgbClr val="C87533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651000" y="5473700"/>
            <a:ext cx="609600" cy="6096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2540000" y="5207000"/>
            <a:ext cx="8255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底层：思维 (底层引擎)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角色：</a:t>
            </a: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觉性的运作机制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1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回答：</a:t>
            </a:r>
            <a:r>
              <a:rPr lang="en-US" sz="13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火怎么烧？</a:t>
            </a:r>
            <a:endParaRPr lang="en-US" sz="1300" b="0" i="0" u="none" strike="noStrike">
              <a:solidFill>
                <a:srgbClr val="FFFFFF">
                  <a:alpha val="9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结论反思：不自洽的根源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10668000" cy="2794000"/>
          </a:xfrm>
          <a:prstGeom prst="roundRect">
            <a:avLst>
              <a:gd name="adj" fmla="val 0"/>
            </a:avLst>
          </a:prstGeom>
          <a:solidFill>
            <a:srgbClr val="C87533">
              <a:alpha val="10000"/>
            </a:srgbClr>
          </a:solidFill>
          <a:ln w="12700" cap="flat" cmpd="sng">
            <a:solidFill>
              <a:srgbClr val="C875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905000"/>
            <a:ext cx="10160000" cy="254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500" b="0" i="0" u="none" strike="noStrike">
                <a:solidFill>
                  <a:srgbClr val="E6E6E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如果说有一个不自洽，那</a:t>
            </a:r>
            <a:r>
              <a:rPr lang="en-US" sz="15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不在概念之间，而在概念与使用者之间</a:t>
            </a:r>
            <a:r>
              <a:rPr lang="en-US" sz="1500" b="0" i="0" u="none" strike="noStrike">
                <a:solidFill>
                  <a:srgbClr val="E6E6E6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。当我们用“思维”去分析“思维”的定义时，那个分析本身是否已在第一阶段（致虚极）？如果在第四阶段（知常明）却仍在做第一阶段的事——即，明明已经可以“自在妙用”，却仍在反复审计概念是否完美——那就构成了不自洽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4826000"/>
            <a:ext cx="50800" cy="1524000"/>
          </a:xfrm>
          <a:prstGeom prst="roundRect">
            <a:avLst>
              <a:gd name="adj" fmla="val 0"/>
            </a:avLst>
          </a:prstGeom>
          <a:solidFill>
            <a:srgbClr val="C875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7" name="AutoShape 7"/>
          <p:cNvSpPr/>
          <p:nvPr/>
        </p:nvSpPr>
        <p:spPr>
          <a:xfrm>
            <a:off x="1016000" y="4826000"/>
            <a:ext cx="10414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0" i="1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“信言不美，美言不信。善者不辩，辩者不善。”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——《道德经》第八十一章</a:t>
            </a:r>
            <a:endParaRPr lang="en-US" sz="1300" b="0" i="0" u="none" strike="noStrike">
              <a:solidFill>
                <a:srgbClr val="FFFFFF">
                  <a:alpha val="60000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一个建议：从理论到实践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10668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20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“为学日益，为道日损。损之又损，以至于无为。”</a:t>
            </a:r>
            <a:br>
              <a:rPr lang="en-US" sz="1600" b="0" i="0" u="none" strike="noStrike">
                <a:solidFill>
                  <a:srgbClr val="1F2329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400" b="0" i="0" u="none" strike="noStrike">
                <a:solidFill>
                  <a:srgbClr val="FFFFFF">
                    <a:alpha val="7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——《道德经》第四十八章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3302000"/>
            <a:ext cx="3302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8753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3606800"/>
            <a:ext cx="609600" cy="609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37211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思维的“致虚极”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66800" y="4445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今天坐五分钟，只看呼吸。在一呼一吸间，让思维从繁杂的概念中抽离，回归当下的觉察与空性。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4445000" y="3302000"/>
            <a:ext cx="3302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8753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49800" y="3606800"/>
            <a:ext cx="609600" cy="6096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461000" y="37211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成长的“五行流转”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749800" y="4445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本周淘汰一项过时的技能。如同五行相生相克，舍弃旧有的负担，才能为新技能和新的可能性腾出空间。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3302000"/>
            <a:ext cx="3302000" cy="2540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8753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32800" y="3606800"/>
            <a:ext cx="609600" cy="609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9144000" y="3721100"/>
            <a:ext cx="2413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修行的“根·芽·叶·果”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8432800" y="4445000"/>
            <a:ext cx="2794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在能量低时不强求“贡献”。专注于滋养根系，做最小必要的事，让生命的能量自然沉淀、孕育和生长。</a:t>
            </a:r>
            <a:endParaRPr lang="en-US" sz="110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「知常曰明」的七环链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397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FFFFFF">
                    <a:alpha val="85098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“复命曰常，知常曰明。不知常，妄作凶。知常容，容乃公，公乃全，全乃天，天乃道，道乃久，没身不殆。”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540000"/>
            <a:ext cx="3302000" cy="1143000"/>
          </a:xfrm>
          <a:prstGeom prst="roundRect">
            <a:avLst>
              <a:gd name="adj" fmla="val 0"/>
            </a:avLst>
          </a:prstGeom>
          <a:solidFill>
            <a:srgbClr val="C87533">
              <a:alpha val="15000"/>
            </a:srgbClr>
          </a:solidFill>
          <a:ln w="12700" cap="flat" cmpd="sng">
            <a:solidFill>
              <a:srgbClr val="C8753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52500" y="29083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26670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01. 知常曰明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认识并接纳事物发展的客观规律，是智慧的开端。</a:t>
            </a:r>
            <a:endParaRPr lang="en-US" sz="12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2540000"/>
            <a:ext cx="3302000" cy="1143000"/>
          </a:xfrm>
          <a:prstGeom prst="roundRect">
            <a:avLst>
              <a:gd name="adj" fmla="val 0"/>
            </a:avLst>
          </a:prstGeom>
          <a:solidFill>
            <a:srgbClr val="C87533">
              <a:alpha val="15000"/>
            </a:srgbClr>
          </a:solidFill>
          <a:ln w="12700" cap="flat" cmpd="sng">
            <a:solidFill>
              <a:srgbClr val="C8753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635500" y="29083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207000" y="26670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02. 知常容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因洞悉规律而内心笃定，对外界差异与变化生出包容心。</a:t>
            </a:r>
            <a:endParaRPr lang="en-US" sz="12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1" name="AutoShape 11"/>
          <p:cNvSpPr/>
          <p:nvPr/>
        </p:nvSpPr>
        <p:spPr>
          <a:xfrm>
            <a:off x="8128000" y="2540000"/>
            <a:ext cx="3302000" cy="1143000"/>
          </a:xfrm>
          <a:prstGeom prst="roundRect">
            <a:avLst>
              <a:gd name="adj" fmla="val 0"/>
            </a:avLst>
          </a:prstGeom>
          <a:solidFill>
            <a:srgbClr val="C87533">
              <a:alpha val="15000"/>
            </a:srgbClr>
          </a:solidFill>
          <a:ln w="12700" cap="flat" cmpd="sng">
            <a:solidFill>
              <a:srgbClr val="C8753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18500" y="29083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890000" y="26670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03. 容乃公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包容万物则无偏私，处理事务自然能秉持公正之心。</a:t>
            </a:r>
            <a:endParaRPr lang="en-US" sz="12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4" name="AutoShape 14"/>
          <p:cNvSpPr/>
          <p:nvPr/>
        </p:nvSpPr>
        <p:spPr>
          <a:xfrm>
            <a:off x="762000" y="3937000"/>
            <a:ext cx="3302000" cy="1143000"/>
          </a:xfrm>
          <a:prstGeom prst="roundRect">
            <a:avLst>
              <a:gd name="adj" fmla="val 0"/>
            </a:avLst>
          </a:prstGeom>
          <a:solidFill>
            <a:srgbClr val="C87533">
              <a:alpha val="15000"/>
            </a:srgbClr>
          </a:solidFill>
          <a:ln w="12700" cap="flat" cmpd="sng">
            <a:solidFill>
              <a:srgbClr val="C8753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3053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1524000" y="40640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04. 公乃全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公正无私则能周全考虑各方，形成系统的、完整的认知。</a:t>
            </a:r>
            <a:endParaRPr lang="en-US" sz="12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7" name="AutoShape 17"/>
          <p:cNvSpPr/>
          <p:nvPr/>
        </p:nvSpPr>
        <p:spPr>
          <a:xfrm>
            <a:off x="4445000" y="3937000"/>
            <a:ext cx="3302000" cy="1143000"/>
          </a:xfrm>
          <a:prstGeom prst="roundRect">
            <a:avLst>
              <a:gd name="adj" fmla="val 0"/>
            </a:avLst>
          </a:prstGeom>
          <a:solidFill>
            <a:srgbClr val="C87533">
              <a:alpha val="15000"/>
            </a:srgbClr>
          </a:solidFill>
          <a:ln w="12700" cap="flat" cmpd="sng">
            <a:solidFill>
              <a:srgbClr val="C8753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635500" y="4305300"/>
            <a:ext cx="406400" cy="4064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5207000" y="40640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05. 全乃天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达到完整的境界，就与自然的天性和宇宙的法则相契合。</a:t>
            </a:r>
            <a:endParaRPr lang="en-US" sz="12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0" name="AutoShape 20"/>
          <p:cNvSpPr/>
          <p:nvPr/>
        </p:nvSpPr>
        <p:spPr>
          <a:xfrm>
            <a:off x="8128000" y="3937000"/>
            <a:ext cx="3302000" cy="1143000"/>
          </a:xfrm>
          <a:prstGeom prst="roundRect">
            <a:avLst>
              <a:gd name="adj" fmla="val 0"/>
            </a:avLst>
          </a:prstGeom>
          <a:solidFill>
            <a:srgbClr val="C87533">
              <a:alpha val="15000"/>
            </a:srgbClr>
          </a:solidFill>
          <a:ln w="12700" cap="flat" cmpd="sng">
            <a:solidFill>
              <a:srgbClr val="C8753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8318500" y="4305300"/>
            <a:ext cx="406400" cy="4064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8890000" y="4064000"/>
            <a:ext cx="2413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06. 天乃道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合乎天性即是顺应大道，回归事物最本质的运行规律。</a:t>
            </a:r>
            <a:endParaRPr lang="en-US" sz="1200" b="0" i="0" u="none" strike="noStrike">
              <a:solidFill>
                <a:srgbClr val="FFFFFF">
                  <a:alpha val="8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23" name="AutoShape 23"/>
          <p:cNvSpPr/>
          <p:nvPr/>
        </p:nvSpPr>
        <p:spPr>
          <a:xfrm>
            <a:off x="762000" y="5334000"/>
            <a:ext cx="6985000" cy="1016000"/>
          </a:xfrm>
          <a:prstGeom prst="roundRect">
            <a:avLst>
              <a:gd name="adj" fmla="val 0"/>
            </a:avLst>
          </a:prstGeom>
          <a:solidFill>
            <a:srgbClr val="C87533">
              <a:alpha val="25000"/>
            </a:srgbClr>
          </a:solidFill>
          <a:ln w="12700" cap="flat" cmpd="sng">
            <a:solidFill>
              <a:srgbClr val="C8753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016000" y="5638800"/>
            <a:ext cx="406400" cy="4064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1524000" y="5461000"/>
            <a:ext cx="6096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07. 道乃久：</a:t>
            </a:r>
            <a:r>
              <a:rPr lang="en-US" sz="1200" b="0" i="0" u="none" strike="noStrike">
                <a:solidFill>
                  <a:srgbClr val="FFFFFF">
                    <a:alpha val="9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顺应大道则能长久存在，终身不会陷入危险的境地。这是从内到外再回归内的螺旋闭环。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8128000" y="5334000"/>
            <a:ext cx="3302000" cy="1016000"/>
          </a:xfrm>
          <a:prstGeom prst="roundRect">
            <a:avLst>
              <a:gd name="adj" fmla="val 0"/>
            </a:avLst>
          </a:prstGeom>
          <a:solidFill>
            <a:srgbClr val="000000">
              <a:alpha val="40000"/>
            </a:srgbClr>
          </a:solidFill>
          <a:ln w="12700" cap="flat" cmpd="sng">
            <a:solidFill>
              <a:srgbClr val="FFFFFF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8318500" y="5689600"/>
            <a:ext cx="304800" cy="3048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8763000" y="5486400"/>
            <a:ext cx="2540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动力学逻辑：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FFFFFF">
                    <a:alpha val="70196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关键在于“不跳环”，需一步步扎实递进，形成正向循环。</a:t>
            </a:r>
            <a:endParaRPr lang="en-US" sz="1200" b="0" i="0" u="none" strike="noStrike">
              <a:solidFill>
                <a:srgbClr val="FFFFFF">
                  <a:alpha val="70196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668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核心隐喻：教育是点燃一把火，不是灌满一桶水</a:t>
            </a:r>
            <a:endParaRPr lang="en-US" sz="1100"/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62000" y="1778000"/>
            <a:ext cx="406400" cy="4064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1270000" y="1778000"/>
            <a:ext cx="457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火 (内在觉性)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2413000"/>
            <a:ext cx="5080000" cy="762000"/>
          </a:xfrm>
          <a:prstGeom prst="roundRect">
            <a:avLst>
              <a:gd name="adj" fmla="val 0"/>
            </a:avLst>
          </a:prstGeom>
          <a:solidFill>
            <a:srgbClr val="C8753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52500" y="26416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397000" y="2413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整全性：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一个火星蕴含全部可能，是完整的、自足的系统。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762000" y="3302000"/>
            <a:ext cx="5080000" cy="762000"/>
          </a:xfrm>
          <a:prstGeom prst="roundRect">
            <a:avLst>
              <a:gd name="adj" fmla="val 0"/>
            </a:avLst>
          </a:prstGeom>
          <a:solidFill>
            <a:srgbClr val="C8753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952500" y="35306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397000" y="3302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主动性：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自己烧，源于“我想知道”的内驱力，而非外部强迫。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5080000" cy="762000"/>
          </a:xfrm>
          <a:prstGeom prst="roundRect">
            <a:avLst>
              <a:gd name="adj" fmla="val 0"/>
            </a:avLst>
          </a:prstGeom>
          <a:solidFill>
            <a:srgbClr val="C87533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52500" y="4419600"/>
            <a:ext cx="304800" cy="3048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397000" y="4191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持久性：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只要有柴（认知素材），火就不灭，可持续生长。</a:t>
            </a:r>
            <a:endParaRPr lang="en-US" sz="1100"/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50000" y="17780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6858000" y="1778000"/>
            <a:ext cx="45720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6495ED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水 (外部知识)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6350000" y="2413000"/>
            <a:ext cx="5080000" cy="762000"/>
          </a:xfrm>
          <a:prstGeom prst="roundRect">
            <a:avLst>
              <a:gd name="adj" fmla="val 0"/>
            </a:avLst>
          </a:prstGeom>
          <a:solidFill>
            <a:srgbClr val="6495E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540500" y="26416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6985000" y="2413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零散性：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由无数水滴组成，永远不完整，缺乏内在的有机联系。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6350000" y="3302000"/>
            <a:ext cx="5080000" cy="762000"/>
          </a:xfrm>
          <a:prstGeom prst="roundRect">
            <a:avLst>
              <a:gd name="adj" fmla="val 0"/>
            </a:avLst>
          </a:prstGeom>
          <a:solidFill>
            <a:srgbClr val="6495E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1" name="Picture 21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540500" y="3530600"/>
            <a:ext cx="304800" cy="304800"/>
          </a:xfrm>
          <a:prstGeom prst="rect">
            <a:avLst/>
          </a:prstGeom>
        </p:spPr>
      </p:pic>
      <p:sp>
        <p:nvSpPr>
          <p:cNvPr id="22" name="AutoShape 22"/>
          <p:cNvSpPr/>
          <p:nvPr/>
        </p:nvSpPr>
        <p:spPr>
          <a:xfrm>
            <a:off x="6985000" y="3302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被动性：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靠外力灌，源于“你要学”的指令，是被动的接收者。</a:t>
            </a:r>
            <a:endParaRPr lang="en-US" sz="1100"/>
          </a:p>
        </p:txBody>
      </p:sp>
      <p:sp>
        <p:nvSpPr>
          <p:cNvPr id="23" name="AutoShape 23"/>
          <p:cNvSpPr/>
          <p:nvPr/>
        </p:nvSpPr>
        <p:spPr>
          <a:xfrm>
            <a:off x="6350000" y="4191000"/>
            <a:ext cx="5080000" cy="762000"/>
          </a:xfrm>
          <a:prstGeom prst="roundRect">
            <a:avLst>
              <a:gd name="adj" fmla="val 0"/>
            </a:avLst>
          </a:prstGeom>
          <a:solidFill>
            <a:srgbClr val="6495ED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4" name="Picture 24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6540500" y="4419600"/>
            <a:ext cx="304800" cy="304800"/>
          </a:xfrm>
          <a:prstGeom prst="rect">
            <a:avLst/>
          </a:prstGeom>
        </p:spPr>
      </p:pic>
      <p:sp>
        <p:nvSpPr>
          <p:cNvPr id="25" name="AutoShape 25"/>
          <p:cNvSpPr/>
          <p:nvPr/>
        </p:nvSpPr>
        <p:spPr>
          <a:xfrm>
            <a:off x="6985000" y="4191000"/>
            <a:ext cx="431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有限性：</a:t>
            </a:r>
            <a:r>
              <a:rPr lang="en-US" sz="1300" b="0" i="0" u="none" strike="noStrike">
                <a:solidFill>
                  <a:srgbClr val="FFFFFF">
                    <a:alpha val="8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桶有底，灌满就漏，知识存储总有上限，易遗忘。</a:t>
            </a:r>
            <a:endParaRPr lang="en-US" sz="1100"/>
          </a:p>
        </p:txBody>
      </p:sp>
      <p:sp>
        <p:nvSpPr>
          <p:cNvPr id="26" name="AutoShape 26"/>
          <p:cNvSpPr/>
          <p:nvPr/>
        </p:nvSpPr>
        <p:spPr>
          <a:xfrm>
            <a:off x="762000" y="5334000"/>
            <a:ext cx="10668000" cy="1016000"/>
          </a:xfrm>
          <a:prstGeom prst="roundRect">
            <a:avLst>
              <a:gd name="adj" fmla="val 0"/>
            </a:avLst>
          </a:prstGeom>
          <a:solidFill>
            <a:srgbClr val="C87533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7" name="Picture 27"/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1016000" y="5638800"/>
            <a:ext cx="406400" cy="406400"/>
          </a:xfrm>
          <a:prstGeom prst="rect">
            <a:avLst/>
          </a:prstGeom>
        </p:spPr>
      </p:pic>
      <p:sp>
        <p:nvSpPr>
          <p:cNvPr id="28" name="AutoShape 28"/>
          <p:cNvSpPr/>
          <p:nvPr/>
        </p:nvSpPr>
        <p:spPr>
          <a:xfrm>
            <a:off x="1524000" y="5334000"/>
            <a:ext cx="9652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5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核心洞见：</a:t>
            </a:r>
            <a:r>
              <a:rPr lang="en-US" sz="14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思维之用，源于内在的“冲”（虚空），即保持开放和好奇的心态；而非源于外面的“填”，即单纯的知识堆砌。真正的教育，是唤醒内在的火焰。</a:t>
            </a:r>
            <a:endParaRPr lang="en-US" sz="110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案例对比：小禾（添柴）与小石（泼水）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8753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778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小禾：火被添了柴</a:t>
            </a:r>
            <a:endParaRPr lang="en-US" sz="1100"/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4130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460500" y="2413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火：</a:t>
            </a: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天生对世界的好奇，是探索未知的原始驱动力。</a:t>
            </a:r>
            <a:endParaRPr lang="en-US" sz="1100"/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016000" y="3175000"/>
            <a:ext cx="304800" cy="3048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1460500" y="3175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柴：</a:t>
            </a: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妈妈的固定阅读时间、天文馆的照片，为兴趣提供了持续的燃料。</a:t>
            </a:r>
            <a:endParaRPr lang="en-US" sz="1100"/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39370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460500" y="3937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风：</a:t>
            </a: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好的反馈——“你发现了什么？”，像风一样助燃了孩子的探索欲。</a:t>
            </a:r>
            <a:endParaRPr lang="en-US" sz="1100"/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016000" y="4699000"/>
            <a:ext cx="304800" cy="3048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1460500" y="4699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结果：</a:t>
            </a: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火越烧越旺，孩子主动探索，自己“看到”了星座的连线。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350000" y="1524000"/>
            <a:ext cx="5080000" cy="3937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87533">
                <a:alpha val="4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5" name="AutoShape 15"/>
          <p:cNvSpPr/>
          <p:nvPr/>
        </p:nvSpPr>
        <p:spPr>
          <a:xfrm>
            <a:off x="6604000" y="1778000"/>
            <a:ext cx="457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小石：火被泼了水</a:t>
            </a:r>
            <a:endParaRPr lang="en-US" sz="1100"/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604000" y="2413000"/>
            <a:ext cx="304800" cy="3048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7048500" y="2413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火：</a:t>
            </a: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天生对恐龙的痴迷，这份热爱从未熄灭，却被环境压制。</a:t>
            </a:r>
            <a:endParaRPr lang="en-US" sz="1100"/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604000" y="3175000"/>
            <a:ext cx="304800" cy="3048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7048500" y="3175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水：</a:t>
            </a: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学校的负面标签、妈妈的横向比较、自我否定，不断浇灭热情。</a:t>
            </a:r>
            <a:endParaRPr lang="en-US" sz="1100"/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6604000" y="3937000"/>
            <a:ext cx="304800" cy="3048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7048500" y="3937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炉膛：</a:t>
            </a: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被堆满作业的压力压破，失去了容纳和孕育兴趣的空间。</a:t>
            </a:r>
            <a:endParaRPr lang="en-US" sz="1100"/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604000" y="4699000"/>
            <a:ext cx="304800" cy="3048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7048500" y="4699000"/>
            <a:ext cx="4064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3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结果：</a:t>
            </a: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火还在，但被浇得很暗，孩子的天赋和热爱被埋没在焦虑中。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762000" y="5715000"/>
            <a:ext cx="10668000" cy="762000"/>
          </a:xfrm>
          <a:prstGeom prst="roundRect">
            <a:avLst>
              <a:gd name="adj" fmla="val 0"/>
            </a:avLst>
          </a:prstGeom>
          <a:solidFill>
            <a:srgbClr val="C87533">
              <a:alpha val="20000"/>
            </a:srgbClr>
          </a:solidFill>
          <a:ln w="12700" cap="flat" cmpd="sng">
            <a:solidFill>
              <a:srgbClr val="C8753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5" name="Picture 25"/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1016000" y="5943600"/>
            <a:ext cx="304800" cy="304800"/>
          </a:xfrm>
          <a:prstGeom prst="rect">
            <a:avLst/>
          </a:prstGeom>
        </p:spPr>
      </p:pic>
      <p:sp>
        <p:nvSpPr>
          <p:cNvPr id="26" name="AutoShape 26"/>
          <p:cNvSpPr/>
          <p:nvPr/>
        </p:nvSpPr>
        <p:spPr>
          <a:xfrm>
            <a:off x="1460500" y="58420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关键启示：教育的“妄作凶”，不在于我们为孩子加了什么柴，而在于我们在不经意间，向他们的心上泼了什么水。</a:t>
            </a:r>
            <a:endParaRPr lang="en-US" sz="110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小禾的七环链：从“知常”到“道乃久”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143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20320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49400" y="20447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小禾的“知常”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03500"/>
            <a:ext cx="463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BEB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场景：三个月观星后突然“看到星座的连线”。领悟到成长的节律：“原来我的火不需要每天都很旺。只要每天添一小把柴，三个月后，它会在某个夜里突然照亮整片天空。”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86500" y="1778000"/>
            <a:ext cx="5143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40500" y="20320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073900" y="20447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小禾的“容”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540500" y="2603500"/>
            <a:ext cx="463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BEB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场景：在帮助不懂编程的同桌过程中，深刻理解了“每个人的炉子烧的是不同的柴”。这种包容并非迁就，而是对不同成长路径的尊重与共情。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254500"/>
            <a:ext cx="5143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16000" y="45085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49400" y="45212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小禾的“公”与“全”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16000" y="5080000"/>
            <a:ext cx="463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BEB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场景：帮同学编程后，转而请教对方美术问题。实现了双向取暖，而非单向的接纳或输出，在交互中完成了对“公”的实践与对“全”的趋近。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86500" y="4254500"/>
            <a:ext cx="5143500" cy="22225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40500" y="45085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73900" y="45212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小禾的“天→道→久”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540500" y="5080000"/>
            <a:ext cx="46355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BEBEB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状态：不再焦虑火够不够旺，只关心炉膛、柴、风是否合适。最终结果是“放心让火烧”，信任事物自身的发展规律，从而达到“道乃久”的从容境界。</a:t>
            </a:r>
            <a:endParaRPr lang="en-US" sz="110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小石的七环链：从“妄作凶”到“知常容”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78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66800" y="20828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00200" y="2095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小石的“妄作凶”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66800" y="2667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三重泼水：学校的标签、妈妈的焦虑、自我的内化。越用力添柴，火越暗，陷入越努力越挫败的恶性循环，这是典型的“妄作”带来的负面信号。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6223000" y="1778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7800" y="2082800"/>
            <a:ext cx="406400" cy="4064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7061200" y="2095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小石的“知常”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527800" y="2667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妈妈做了减法，桌上只留一本恐龙画册。这让他重新看见自己：“我不是什么都不行，我只是有自己的常道。” 回归本心，是走出困境的关键一步。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4191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6800" y="4495800"/>
            <a:ext cx="406400" cy="4064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600200" y="4508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小石的“知常容”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1066800" y="5080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课堂上第一次举手讲恐龙，全班安静倾听。他的“火”照亮了他人，也被他人看见和接纳。这种被包容的体验，让他完成了从“独善”到“被容”的转变。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6223000" y="4191000"/>
            <a:ext cx="5207000" cy="2159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27800" y="4495800"/>
            <a:ext cx="406400" cy="4064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7061200" y="4508500"/>
            <a:ext cx="4064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小石的“公”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6527800" y="5080000"/>
            <a:ext cx="4572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3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画“恐龙入门漫画”发给全班，将个人的热爱转化为分享的火种。这是“容”的升华，从被接纳到主动连接，实现了个体价值的公共化与延续。</a:t>
            </a:r>
            <a:endParaRPr lang="en-US" sz="110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7620000" cy="5715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七环链的日常活用法则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875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79500" y="1968500"/>
            <a:ext cx="457200" cy="4572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651000" y="203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每日自问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2667000"/>
            <a:ext cx="2794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我在哪一环出了问题？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焦虑、用力过猛 → 不知常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愤怒、评判他人 → 不容</a:t>
            </a:r>
            <a:br>
              <a:rPr lang="en-US" sz="16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偏私、拉帮结派 → 不公</a:t>
            </a:r>
            <a:endParaRPr lang="en-US" sz="1300" b="0" i="0" u="none" strike="noStrike">
              <a:solidFill>
                <a:srgbClr val="FFFFFF">
                  <a:alpha val="85098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通过觉察当下的情绪与行为，快速定位自己偏离“常道”的环节，是回归的第一步。</a:t>
            </a:r>
            <a:endParaRPr lang="en-US" sz="13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875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62500" y="1968500"/>
            <a:ext cx="457200" cy="4572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5334000" y="203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常道笔记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4699000" y="2667000"/>
            <a:ext cx="2794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 今天我在什么时候感觉时间过得好快？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 今天我在什么地方感觉“我就是这样的人”？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 今天我做的哪件事违背了上面两点？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记录那些让你“忘我”的时刻，那是你与“常道”同频的信号；反思违背的时刻，即是修正的契机。</a:t>
            </a:r>
            <a:endParaRPr lang="en-US" sz="13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8128000" y="1651000"/>
            <a:ext cx="3302000" cy="4572000"/>
          </a:xfrm>
          <a:prstGeom prst="roundRect">
            <a:avLst>
              <a:gd name="adj" fmla="val 0"/>
            </a:avLst>
          </a:prstGeom>
          <a:solidFill>
            <a:srgbClr val="FFFFFF">
              <a:alpha val="8000"/>
            </a:srgbClr>
          </a:solidFill>
          <a:ln w="12700" cap="flat" cmpd="sng">
            <a:solidFill>
              <a:srgbClr val="C875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445500" y="1968500"/>
            <a:ext cx="457200" cy="4572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9017000" y="20320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87533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“妄作凶”急救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8382000" y="2667000"/>
            <a:ext cx="2794000" cy="304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33000"/>
              </a:lnSpc>
              <a:defRPr/>
            </a:pP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1.</a:t>
            </a:r>
            <a:r>
              <a:rPr lang="en-US" sz="1300" b="1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停：</a:t>
            </a: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深呼吸，致虚守静，从情绪的漩涡中抽离。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2.</a:t>
            </a:r>
            <a:r>
              <a:rPr lang="en-US" sz="1300" b="1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问：</a:t>
            </a: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我现在在逆什么常道？是节奏、本心还是原则？</a:t>
            </a:r>
            <a:br>
              <a:rPr lang="en-US" sz="1300" b="0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3.</a:t>
            </a:r>
            <a:r>
              <a:rPr lang="en-US" sz="1300" b="1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归：</a:t>
            </a:r>
            <a:r>
              <a:rPr lang="en-US" sz="1300" b="0" i="0" u="none" strike="noStrike">
                <a:solidFill>
                  <a:srgbClr val="FFFFFF">
                    <a:alpha val="85098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放下执念，回到我自己的常道，做当下最该做的事。</a:t>
            </a:r>
            <a:endParaRPr lang="en-US" sz="1100"/>
          </a:p>
          <a:p>
            <a:pPr indent="0" algn="l">
              <a:lnSpc>
                <a:spcPct val="133000"/>
              </a:lnSpc>
            </a:pPr>
            <a:r>
              <a:rPr lang="en-US" sz="1300" b="0" i="0" u="none" strike="noStrike">
                <a:solidFill>
                  <a:srgbClr val="FFFFFF">
                    <a:alpha val="60000"/>
                  </a:srgbClr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当陷入混乱与痛苦时，这三步是最直接的破局之道，帮助你从“妄作”回归“常然”。</a:t>
            </a:r>
            <a:endParaRPr lang="en-US" sz="1300" b="0" i="0" u="none" strike="noStrike">
              <a:solidFill>
                <a:srgbClr val="FFFFFF">
                  <a:alpha val="60000"/>
                </a:srgbClr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1016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终极启示：不是“学会”，而是“回到”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875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核心结论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762000" y="2159000"/>
            <a:ext cx="1066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小禾和小石的故事指向同一个结论：</a:t>
            </a:r>
            <a:r>
              <a:rPr lang="en-US" sz="1400" b="1" i="0" u="none" strike="noStrike">
                <a:solidFill>
                  <a:srgbClr val="C875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常道不是学来的，是归来的。</a:t>
            </a:r>
            <a:r>
              <a:rPr lang="en-US" sz="1400" b="0" i="0" u="none" strike="noStrike">
                <a:solidFill>
                  <a:srgbClr val="E6E6E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它不是外求的知识，而是内求的回归，是对本自具足的天性与节奏的重新发现。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762000" y="30480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C875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16000" y="3302000"/>
            <a:ext cx="406400" cy="4064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1524000" y="32385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小禾归来的是：时间的节律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在自然的周期中找回属于自己的频率，不疾不徐，顺应天时，在慢与快之间找到平衡。</a:t>
            </a:r>
            <a:endParaRPr lang="en-US" sz="12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223000" y="3048000"/>
            <a:ext cx="5207000" cy="1270000"/>
          </a:xfrm>
          <a:prstGeom prst="roundRect">
            <a:avLst>
              <a:gd name="adj" fmla="val 0"/>
            </a:avLst>
          </a:prstGeom>
          <a:solidFill>
            <a:srgbClr val="FFFFFF">
              <a:alpha val="5000"/>
            </a:srgbClr>
          </a:solidFill>
          <a:ln w="12700" cap="flat" cmpd="sng">
            <a:solidFill>
              <a:srgbClr val="C87533">
                <a:alpha val="3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77000" y="33020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985000" y="3238500"/>
            <a:ext cx="4318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1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小石归来的是：恐龙世界里的自己</a:t>
            </a:r>
            <a:endParaRPr lang="en-US" sz="1100"/>
          </a:p>
          <a:p>
            <a:pPr indent="0" algn="l">
              <a:lnSpc>
                <a:spcPct val="108000"/>
              </a:lnSpc>
            </a:pPr>
            <a:r>
              <a:rPr lang="en-US" sz="1200" b="0" i="0" u="none" strike="noStrike">
                <a:solidFill>
                  <a:srgbClr val="C8C8C8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回归童年的热爱与纯粹，在那个忘我的世界里，重新连接内心最本真的渴望与力量。</a:t>
            </a:r>
            <a:endParaRPr lang="en-US" sz="1200" b="0" i="0" u="none" strike="noStrike">
              <a:solidFill>
                <a:srgbClr val="C8C8C8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2" name="AutoShape 12"/>
          <p:cNvSpPr/>
          <p:nvPr/>
        </p:nvSpPr>
        <p:spPr>
          <a:xfrm>
            <a:off x="762000" y="4572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C875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最终口诀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762000" y="5080000"/>
            <a:ext cx="10668000" cy="1524000"/>
          </a:xfrm>
          <a:prstGeom prst="roundRect">
            <a:avLst>
              <a:gd name="adj" fmla="val 0"/>
            </a:avLst>
          </a:prstGeom>
          <a:solidFill>
            <a:srgbClr val="C87533">
              <a:alpha val="15000"/>
            </a:srgbClr>
          </a:solidFill>
          <a:ln w="12700" cap="flat" cmpd="sng">
            <a:solidFill>
              <a:srgbClr val="C87533">
                <a:alpha val="10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1016000" y="5270500"/>
            <a:ext cx="10160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“不知常，妄作凶。当你迷茫时，问自己是在顺着什么，还是逆着什么？若答案不出——回到根（自爱），深呼吸三次，翻开那件让你忘记时间的事。那就是你的常道在说话，那就是你的火在说：我还在。”</a:t>
            </a:r>
            <a:endParaRPr lang="en-US" sz="110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solidFill>
            <a:srgbClr val="000000">
              <a:alpha val="3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762000" y="635000"/>
            <a:ext cx="6350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附录：源文档索引</a:t>
            </a:r>
            <a:endParaRPr lang="en-US" sz="1100"/>
          </a:p>
        </p:txBody>
      </p:sp>
      <p:graphicFrame>
        <p:nvGraphicFramePr>
          <p:cNvPr id="4" name="Table 4"/>
          <p:cNvGraphicFramePr>
            <a:graphicFrameLocks noGrp="1"/>
          </p:cNvGraphicFramePr>
          <p:nvPr/>
        </p:nvGraphicFramePr>
        <p:xfrm>
          <a:off x="762000" y="1778000"/>
          <a:ext cx="10668000" cy="4826000"/>
        </p:xfrm>
        <a:graphic>
          <a:graphicData uri="http://schemas.openxmlformats.org/drawingml/2006/table">
            <a:tbl>
              <a:tblPr>
                <a:effectLst/>
              </a:tblPr>
              <a:tblGrid>
                <a:gridCol w="3048000"/>
                <a:gridCol w="3048000"/>
                <a:gridCol w="4572000"/>
              </a:tblGrid>
              <a:tr h="762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文档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87533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来源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87533">
                        <a:alpha val="100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600" b="1" i="0" u="none" strike="noStrike">
                          <a:solidFill>
                            <a:srgbClr val="FFFFFF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核心贡献</a:t>
                      </a:r>
                      <a:endParaRPr lang="en-US" sz="1100"/>
                    </a:p>
                  </a:txBody>
                  <a:tcPr marL="101600" marR="1016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C87533">
                        <a:alpha val="100000"/>
                      </a:srgbClr>
                    </a:solidFill>
                  </a:tcPr>
                </a:tc>
              </a:tr>
              <a:tr h="1016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BEBEB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《什么是"思维"》</a:t>
                      </a:r>
                      <a:endParaRPr lang="en-US" sz="1100"/>
                    </a:p>
                  </a:txBody>
                  <a:tcPr marL="190500" marR="1905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875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BEBEB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每日镜鉴-运营总库</a:t>
                      </a:r>
                      <a:endParaRPr lang="en-US" sz="1100"/>
                    </a:p>
                  </a:txBody>
                  <a:tcPr marL="190500" marR="1905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875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BEBEB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提出思维的四阶段模型，为认知层级划分提供了理论框架。</a:t>
                      </a:r>
                      <a:endParaRPr lang="en-US" sz="1100"/>
                    </a:p>
                  </a:txBody>
                  <a:tcPr marL="190500" marR="190500" marT="101600" marB="10160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C875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</a:tr>
              <a:tr h="1016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BEBEB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《个人成长与价值实现的新范式》</a:t>
                      </a:r>
                      <a:endParaRPr lang="en-US" sz="1100"/>
                    </a:p>
                  </a:txBody>
                  <a:tcPr marL="190500" marR="1905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875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75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BEBEB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每日镜鉴-运营总库</a:t>
                      </a:r>
                      <a:endParaRPr lang="en-US" sz="1100"/>
                    </a:p>
                  </a:txBody>
                  <a:tcPr marL="190500" marR="1905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875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75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BEBEB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构建了成长的两个地图、五行流转体系与六阶段演化模型，丰富了发展路径的维度。</a:t>
                      </a:r>
                      <a:endParaRPr lang="en-US" sz="1100"/>
                    </a:p>
                  </a:txBody>
                  <a:tcPr marL="190500" marR="1905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875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75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</a:tr>
              <a:tr h="1016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BEBEB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《"四季常青"核心素养体系》</a:t>
                      </a:r>
                      <a:endParaRPr lang="en-US" sz="1100"/>
                    </a:p>
                  </a:txBody>
                  <a:tcPr marL="190500" marR="1905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875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75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BEBEB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每日镜鉴-运营总库</a:t>
                      </a:r>
                      <a:endParaRPr lang="en-US" sz="1100"/>
                    </a:p>
                  </a:txBody>
                  <a:tcPr marL="190500" marR="1905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875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75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BEBEB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定义了修行的四组底线能力，确立了个人与组织长期发展的基础素质标准。</a:t>
                      </a:r>
                      <a:endParaRPr lang="en-US" sz="1100"/>
                    </a:p>
                  </a:txBody>
                  <a:tcPr marL="190500" marR="1905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875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875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>
                        <a:alpha val="8000"/>
                      </a:srgbClr>
                    </a:solidFill>
                  </a:tcPr>
                </a:tc>
              </a:tr>
              <a:tr h="1016000"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BEBEB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《道境空间坐标系》</a:t>
                      </a:r>
                      <a:endParaRPr lang="en-US" sz="1100"/>
                    </a:p>
                  </a:txBody>
                  <a:tcPr marL="190500" marR="1905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875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BEBEB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慧惠项目系列文档</a:t>
                      </a:r>
                      <a:endParaRPr lang="en-US" sz="1100"/>
                    </a:p>
                  </a:txBody>
                  <a:tcPr marL="190500" marR="1905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875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  <a:tc>
                  <a:txBody>
                    <a:bodyPr rtlCol="0"/>
                    <a:lstStyle/>
                    <a:p>
                      <a:pPr indent="0" algn="ctr">
                        <a:lnSpc>
                          <a:spcPct val="100000"/>
                        </a:lnSpc>
                        <a:defRPr/>
                      </a:pPr>
                      <a:r>
                        <a:rPr lang="en-US" sz="1400" b="0" i="0" u="none" strike="noStrike">
                          <a:solidFill>
                            <a:srgbClr val="EBEBEB"/>
                          </a:solidFill>
                          <a:latin typeface="Noto Serif SC" panose="02020200000000000000" charset="-122"/>
                          <a:ea typeface="Noto Serif SC" panose="02020200000000000000" charset="-122"/>
                          <a:cs typeface="Noto Serif SC" panose="02020200000000000000" charset="-122"/>
                          <a:sym typeface="Noto Serif SC" panose="02020200000000000000" charset="-122"/>
                        </a:rPr>
                        <a:t>引入四维坐标、生克化通变动力学及双案例分析，为复杂系统的研判提供了工具与实证。</a:t>
                      </a:r>
                      <a:endParaRPr lang="en-US" sz="1100"/>
                    </a:p>
                  </a:txBody>
                  <a:tcPr marL="190500" marR="190500" marT="101600" marB="101600" anchor="t" anchorCtr="0">
                    <a:lnL>
                      <a:noFill/>
                    </a:lnL>
                    <a:lnR>
                      <a:noFill/>
                    </a:lnR>
                    <a:lnT w="12700" cap="flat" cmpd="sng" algn="ctr">
                      <a:solidFill>
                        <a:srgbClr val="C87533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solidFill>
                      <a:srgbClr val="FFFFFF">
                        <a:alpha val="12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0" y="0"/>
            <a:ext cx="12192000" cy="6858000"/>
          </a:xfrm>
          <a:prstGeom prst="roundRect">
            <a:avLst>
              <a:gd name="adj" fmla="val 0"/>
            </a:avLst>
          </a:prstGeom>
          <a:gradFill rotWithShape="1">
            <a:gsLst>
              <a:gs pos="0">
                <a:srgbClr val="C87533">
                  <a:alpha val="95000"/>
                </a:srgbClr>
              </a:gs>
              <a:gs pos="35000">
                <a:srgbClr val="C87533">
                  <a:alpha val="60000"/>
                </a:srgbClr>
              </a:gs>
              <a:gs pos="80000">
                <a:srgbClr val="000000">
                  <a:alpha val="0"/>
                </a:srgbClr>
              </a:gs>
            </a:gsLst>
            <a:lin ang="16200000"/>
          </a:gra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0" y="2794000"/>
            <a:ext cx="12192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4800" b="1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Q&amp;A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0" y="3619500"/>
            <a:ext cx="1219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FFFFFF"/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感谢聆听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651000" y="4572000"/>
            <a:ext cx="8890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33000"/>
              </a:lnSpc>
              <a:defRPr/>
            </a:pPr>
            <a:r>
              <a:rPr lang="en-US" sz="1400" b="0" i="1" u="none" strike="noStrike">
                <a:solidFill>
                  <a:srgbClr val="FFFFFF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“火候到了，你自然会知道。在那之前，添柴便是。</a:t>
            </a:r>
            <a:br>
              <a:rPr lang="en-US" sz="1400" b="0" i="1" u="none" strike="noStrike">
                <a:solidFill>
                  <a:srgbClr val="FFFFFF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</a:br>
            <a:r>
              <a:rPr lang="en-US" sz="1400" b="0" i="1" u="none" strike="noStrike">
                <a:solidFill>
                  <a:srgbClr val="FFFFFF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别忘了——火从来没灭过。”</a:t>
            </a:r>
            <a:endParaRPr lang="en-US" sz="1100"/>
          </a:p>
          <a:p>
            <a:pPr indent="0" algn="ctr">
              <a:lnSpc>
                <a:spcPct val="133000"/>
              </a:lnSpc>
            </a:pPr>
            <a:r>
              <a:rPr lang="en-US" sz="1400" b="0" i="1" u="none" strike="noStrike">
                <a:solidFill>
                  <a:srgbClr val="FFFFFF">
                    <a:alpha val="90196"/>
                  </a:srgbClr>
                </a:solidFill>
                <a:latin typeface="Noto Serif SC" panose="02020200000000000000" charset="-122"/>
                <a:ea typeface="Noto Serif SC" panose="02020200000000000000" charset="-122"/>
                <a:cs typeface="Noto Serif SC" panose="02020200000000000000" charset="-122"/>
                <a:sym typeface="Noto Serif SC" panose="02020200000000000000" charset="-122"/>
              </a:rPr>
              <a:t>——老子炉边的烧火童子 谨记</a:t>
            </a:r>
            <a:endParaRPr lang="en-US" sz="1400" b="0" i="1" u="none" strike="noStrike">
              <a:solidFill>
                <a:srgbClr val="FFFFFF">
                  <a:alpha val="90196"/>
                </a:srgbClr>
              </a:solidFill>
              <a:latin typeface="Noto Serif SC" panose="02020200000000000000" charset="-122"/>
              <a:ea typeface="Noto Serif SC" panose="02020200000000000000" charset="-122"/>
              <a:cs typeface="Noto Serif SC" panose="02020200000000000000" charset="-122"/>
              <a:sym typeface="Noto Serif SC" panose="02020200000000000000" charset="-122"/>
            </a:endParaR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0" y="6190112"/>
            <a:ext cx="1524000" cy="66788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5079</Words>
  <Application>WPS 演示</Application>
  <PresentationFormat/>
  <Paragraphs>406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22</vt:i4>
      </vt:variant>
    </vt:vector>
  </HeadingPairs>
  <TitlesOfParts>
    <vt:vector size="32" baseType="lpstr">
      <vt:lpstr>Arial</vt:lpstr>
      <vt:lpstr>宋体</vt:lpstr>
      <vt:lpstr>Wingdings</vt:lpstr>
      <vt:lpstr>Arial</vt:lpstr>
      <vt:lpstr>Noto Serif SC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何继杰</cp:lastModifiedBy>
  <cp:revision>1</cp:revision>
  <dcterms:created xsi:type="dcterms:W3CDTF">2026-05-22T09:49:28Z</dcterms:created>
  <dcterms:modified xsi:type="dcterms:W3CDTF">2026-05-22T09:49:28Z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2052-12.1.0.26375</vt:lpwstr>
  </property>
  <property fmtid="{D5CDD505-2E9C-101B-9397-08002B2CF9AE}" pid="3" name="ICV">
    <vt:lpwstr>30A14AF856A3429895644A078D09416A_12</vt:lpwstr>
  </property>
</Properties>
</file>